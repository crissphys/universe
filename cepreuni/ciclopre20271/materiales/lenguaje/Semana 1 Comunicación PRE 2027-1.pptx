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314" r:id="rId3"/>
    <p:sldId id="331" r:id="rId4"/>
    <p:sldId id="335" r:id="rId5"/>
    <p:sldId id="337" r:id="rId6"/>
    <p:sldId id="339" r:id="rId7"/>
    <p:sldId id="372" r:id="rId8"/>
    <p:sldId id="367" r:id="rId9"/>
    <p:sldId id="342" r:id="rId10"/>
    <p:sldId id="389" r:id="rId11"/>
    <p:sldId id="368" r:id="rId12"/>
    <p:sldId id="348" r:id="rId13"/>
    <p:sldId id="364" r:id="rId14"/>
    <p:sldId id="365" r:id="rId15"/>
    <p:sldId id="346" r:id="rId16"/>
    <p:sldId id="361" r:id="rId17"/>
    <p:sldId id="386" r:id="rId18"/>
    <p:sldId id="366" r:id="rId19"/>
    <p:sldId id="354" r:id="rId20"/>
    <p:sldId id="357" r:id="rId21"/>
    <p:sldId id="388" r:id="rId22"/>
    <p:sldId id="358" r:id="rId23"/>
    <p:sldId id="375" r:id="rId24"/>
    <p:sldId id="374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7" r:id="rId3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6CF5AE8D-D88A-43A9-BCD8-2BEF653C590E}">
          <p14:sldIdLst>
            <p14:sldId id="256"/>
            <p14:sldId id="314"/>
            <p14:sldId id="331"/>
            <p14:sldId id="335"/>
            <p14:sldId id="337"/>
            <p14:sldId id="339"/>
            <p14:sldId id="372"/>
            <p14:sldId id="367"/>
            <p14:sldId id="342"/>
            <p14:sldId id="389"/>
            <p14:sldId id="368"/>
            <p14:sldId id="348"/>
            <p14:sldId id="364"/>
            <p14:sldId id="365"/>
            <p14:sldId id="346"/>
            <p14:sldId id="361"/>
            <p14:sldId id="386"/>
            <p14:sldId id="366"/>
            <p14:sldId id="354"/>
            <p14:sldId id="357"/>
            <p14:sldId id="388"/>
            <p14:sldId id="358"/>
            <p14:sldId id="375"/>
            <p14:sldId id="374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RY CORONEL" initials="MC" lastIdx="1" clrIdx="0">
    <p:extLst>
      <p:ext uri="{19B8F6BF-5375-455C-9EA6-DF929625EA0E}">
        <p15:presenceInfo xmlns:p15="http://schemas.microsoft.com/office/powerpoint/2012/main" userId="MERY CORON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16235"/>
    <a:srgbClr val="DBDBDD"/>
    <a:srgbClr val="F2FBD7"/>
    <a:srgbClr val="FFFF99"/>
    <a:srgbClr val="2872FF"/>
    <a:srgbClr val="FF99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8F286-A911-4358-A972-162CFBEF8E47}" v="34" dt="2026-03-02T02:14:08.384"/>
    <p1510:client id="{DCE0AE38-2925-4703-8D79-4E817EE0FFDE}" v="4" dt="2026-03-02T02:57:24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1" autoAdjust="0"/>
    <p:restoredTop sz="88858" autoAdjust="0"/>
  </p:normalViewPr>
  <p:slideViewPr>
    <p:cSldViewPr snapToGrid="0">
      <p:cViewPr varScale="1">
        <p:scale>
          <a:sx n="68" d="100"/>
          <a:sy n="68" d="100"/>
        </p:scale>
        <p:origin x="9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02:48:30.5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DFE82-9E7C-4E51-AFBD-5576872A3F7F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8B49A-4038-4D4E-B6B9-A80821D2FF2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828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D58FD-DFD4-43E1-AABD-752C028851BE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6605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B49A-4038-4D4E-B6B9-A80821D2FF2A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4402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B49A-4038-4D4E-B6B9-A80821D2FF2A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38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B49A-4038-4D4E-B6B9-A80821D2FF2A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7262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B49A-4038-4D4E-B6B9-A80821D2FF2A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0102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B49A-4038-4D4E-B6B9-A80821D2FF2A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529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78754-57AE-7955-C0A2-8CA9A4E2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FD4599-1901-2748-41C1-84626FF78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7946B0-F0C7-AA31-3DC4-6912C52A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3466D7-A329-C3DA-7858-37D9FAC6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9DE974-EBC7-FB04-6B9E-D5E57822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39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96ABA-94FB-C0C5-67A7-71AC1AB0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CE81A3-2E10-E322-9E0D-0DAA743E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0E6AEF-062D-AE7D-7261-74F8BF098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CB582-1A10-00F8-1AC1-329864C9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3C8B08-2DC2-FCB7-1AD6-84D6F3E7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135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7F281-D277-3BC1-E8E8-D076D6F2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81E940-9E21-1391-3C32-23D374E2C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7174AC-C356-C47F-FE5A-84B49D60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89D3A-824D-3068-1C73-EBEC401A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8CB01-5DE0-7568-1DEA-0F181D75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490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B3010-06C3-4F0D-BC22-71BED12E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63113-FD25-E42D-64E3-9F749874E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1E260-8B76-8685-FBFC-76C0BF110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3EB1E7-4784-2BF3-40C8-86994FFA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C9FD41-6E30-B52F-C65B-E157B92D0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B36453-8C53-8DE4-8E7E-F93FF42F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3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F44DA-BBAE-64C8-025C-BD03E075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6CE18B-FF7F-1500-B00B-47133D2F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4B2109-9473-7F5E-C7FB-EF3F4935D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D0BB45-9427-45EC-B28C-81F344332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DE9C87-3FD4-2503-9125-B341C244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67097D-BEF1-F6A8-925E-B573C483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538A37-FEE8-6B77-6EFA-EB874884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4377395-FC1E-7947-4638-A1E0CF6B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072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89845-E0E2-8B1A-0C08-051DFB03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181BF6-A18C-FAD7-21BD-4139D131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427A80-ECB4-265F-3497-A1AA7E60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EC2B93-E71B-54EC-5345-1DE168FE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322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1942724-546A-600C-9C72-9A5F535D3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D5D63E-83F6-42D9-D23C-30DB2473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36644F-FB41-B25D-8EDF-EFBA7B1E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349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544DC-188A-0AD7-232A-1FD5496E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86541-BF0C-0BCE-B734-E663CC422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D17B47-E763-D95B-C659-214608168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F6B922-F0A6-8FAE-415B-48778C9A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520735-C798-95D6-8E48-96E354B9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B6400B-CDD6-820C-2650-D1B00418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224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BAB2E-6FC6-9FA1-751D-18A64A3E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8ECA5F-C23F-BBFF-BBCC-345681EF1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8741C3-8698-D574-A260-5453AB299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E3EC8B-C684-6C0B-0233-50DDBCEB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9E6514-329F-A6EE-A337-0A2ECB33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B6717A-73D7-BE71-CAFB-B7F64EEC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45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24D0A-48D6-40A7-9CF5-39EE6519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D3C5D8-033E-7FDF-669A-180E38F74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5E79F6-F473-A037-D7BD-50E20B03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E471BC-F1ED-EF78-813C-00ED1EF2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8C7AB-AB2A-752D-9279-5670E6EF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764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6C61D3-5897-A070-5CA1-30FF37BF0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9643CE-726A-24C1-85B9-C17FF0D82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496FC3-A0AF-6925-455B-A3515498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0AB960-C6D3-EC8D-7FAE-5DCAC8E6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4FA6A1-4C91-1949-DB32-A96D4027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5510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98D49-715B-46E7-B422-BE3076B9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405" y="231313"/>
            <a:ext cx="9400478" cy="1325563"/>
          </a:xfrm>
        </p:spPr>
        <p:txBody>
          <a:bodyPr>
            <a:noAutofit/>
          </a:bodyPr>
          <a:lstStyle>
            <a:lvl1pPr algn="ctr">
              <a:defRPr sz="5400">
                <a:solidFill>
                  <a:srgbClr val="A20000"/>
                </a:solidFill>
                <a:latin typeface="Bubblegum Sans" panose="02000506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6D35E65-AB75-4228-9846-6E3E66519A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71600" y="1862138"/>
            <a:ext cx="10415239" cy="3992562"/>
          </a:xfrm>
        </p:spPr>
        <p:txBody>
          <a:bodyPr/>
          <a:lstStyle>
            <a:lvl1pPr>
              <a:defRPr>
                <a:solidFill>
                  <a:srgbClr val="760000"/>
                </a:solidFill>
              </a:defRPr>
            </a:lvl1pPr>
            <a:lvl2pPr>
              <a:defRPr>
                <a:solidFill>
                  <a:srgbClr val="760000"/>
                </a:solidFill>
              </a:defRPr>
            </a:lvl2pPr>
            <a:lvl3pPr>
              <a:defRPr>
                <a:solidFill>
                  <a:srgbClr val="760000"/>
                </a:solidFill>
              </a:defRPr>
            </a:lvl3pPr>
            <a:lvl4pPr>
              <a:defRPr>
                <a:solidFill>
                  <a:srgbClr val="760000"/>
                </a:solidFill>
              </a:defRPr>
            </a:lvl4pPr>
            <a:lvl5pPr>
              <a:defRPr>
                <a:solidFill>
                  <a:srgbClr val="760000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C6A9537-B79A-920D-3504-DD21C58F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03AFB6-6742-9E67-7A22-986081C3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B6D09-2F7E-82D0-E7CF-B252A5C9D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F07BB-C551-4620-AA81-30BBD169433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AC29E5-C28E-4497-84C8-B9A52922E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A5D8B-84A8-727B-8318-E6F7C475D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6623C-9547-40B3-8995-94FD9D3D56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795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ead.pucv.cl/Tareas_Ciclo_1A:_Dibujo_Rostro_-_Mar%C3%ADa_Eliza_Mondaca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ixabay.com/es/la-cabeza-hombre-perfil-lateral-33163/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0222" y="4483358"/>
            <a:ext cx="7509504" cy="1789481"/>
          </a:xfrm>
          <a:solidFill>
            <a:schemeClr val="bg2"/>
          </a:solidFill>
        </p:spPr>
        <p:txBody>
          <a:bodyPr/>
          <a:lstStyle/>
          <a:p>
            <a:r>
              <a:rPr lang="es-PE" sz="4000" b="1" noProof="0" dirty="0">
                <a:solidFill>
                  <a:srgbClr val="FF0000"/>
                </a:solidFill>
                <a:latin typeface="Roboto"/>
                <a:ea typeface="Roboto"/>
                <a:cs typeface="Roboto"/>
              </a:rPr>
              <a:t>COMUNICACIÓN HUMANA</a:t>
            </a:r>
            <a:br>
              <a:rPr lang="es-PE" sz="4000" b="1" noProof="0" dirty="0">
                <a:solidFill>
                  <a:srgbClr val="FF0000"/>
                </a:solidFill>
                <a:ea typeface="Roboto"/>
                <a:cs typeface="Roboto"/>
              </a:rPr>
            </a:br>
            <a:r>
              <a:rPr lang="es-PE" sz="4000" b="1" noProof="0" dirty="0">
                <a:solidFill>
                  <a:srgbClr val="FF0000"/>
                </a:solidFill>
                <a:latin typeface="Roboto"/>
                <a:ea typeface="Roboto"/>
                <a:cs typeface="Roboto"/>
              </a:rPr>
              <a:t>FUNCIONES DE LENGUAJE</a:t>
            </a:r>
            <a:br>
              <a:rPr lang="es-PE" sz="4000" b="1" noProof="0" dirty="0">
                <a:solidFill>
                  <a:srgbClr val="FF0000"/>
                </a:solidFill>
                <a:ea typeface="Roboto"/>
                <a:cs typeface="Roboto"/>
              </a:rPr>
            </a:br>
            <a:r>
              <a:rPr lang="es-PE" sz="4000" b="1" noProof="0" dirty="0">
                <a:solidFill>
                  <a:srgbClr val="FF0000"/>
                </a:solidFill>
                <a:latin typeface="Roboto"/>
                <a:ea typeface="Roboto"/>
                <a:cs typeface="Roboto"/>
              </a:rPr>
              <a:t>USO DE MAYÚSCULAS I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0028332" y="2499447"/>
            <a:ext cx="1688282" cy="6463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600" b="1" noProof="0" dirty="0">
                <a:solidFill>
                  <a:srgbClr val="FFFFFF"/>
                </a:solidFill>
                <a:latin typeface="Roboto"/>
              </a:rPr>
              <a:t>2026-2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CC7179-3975-45D7-BF30-6D2DD76978A4}"/>
              </a:ext>
            </a:extLst>
          </p:cNvPr>
          <p:cNvSpPr txBox="1"/>
          <p:nvPr/>
        </p:nvSpPr>
        <p:spPr>
          <a:xfrm>
            <a:off x="10657791" y="5934293"/>
            <a:ext cx="604386" cy="67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800" b="1" noProof="0" dirty="0">
                <a:solidFill>
                  <a:srgbClr val="660033"/>
                </a:solidFill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66FE3B-853B-4D11-93EC-5AB8361E2A7F}"/>
              </a:ext>
            </a:extLst>
          </p:cNvPr>
          <p:cNvSpPr/>
          <p:nvPr/>
        </p:nvSpPr>
        <p:spPr>
          <a:xfrm>
            <a:off x="9485616" y="1987050"/>
            <a:ext cx="2706378" cy="400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000" b="1" noProof="0" dirty="0">
                <a:solidFill>
                  <a:srgbClr val="FFFFFF"/>
                </a:solidFill>
                <a:latin typeface="Roboto"/>
              </a:rPr>
              <a:t>PREUNIVERSITARIO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D74BA6-24F7-4214-8CFC-D33348CDC53D}"/>
              </a:ext>
            </a:extLst>
          </p:cNvPr>
          <p:cNvSpPr/>
          <p:nvPr/>
        </p:nvSpPr>
        <p:spPr>
          <a:xfrm>
            <a:off x="4519914" y="3698118"/>
            <a:ext cx="2210767" cy="6481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800" b="1" noProof="0" dirty="0">
                <a:solidFill>
                  <a:srgbClr val="FF0000"/>
                </a:solidFill>
                <a:latin typeface="Algerian"/>
              </a:rPr>
              <a:t>TEMAS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ADB21-3330-1FC7-D5F5-D72A30FCB567}"/>
              </a:ext>
            </a:extLst>
          </p:cNvPr>
          <p:cNvSpPr/>
          <p:nvPr/>
        </p:nvSpPr>
        <p:spPr>
          <a:xfrm>
            <a:off x="9942286" y="2554518"/>
            <a:ext cx="1688282" cy="508001"/>
          </a:xfrm>
          <a:prstGeom prst="rect">
            <a:avLst/>
          </a:prstGeom>
          <a:solidFill>
            <a:srgbClr val="0162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</p:spTree>
    <p:extLst>
      <p:ext uri="{BB962C8B-B14F-4D97-AF65-F5344CB8AC3E}">
        <p14:creationId xmlns:p14="http://schemas.microsoft.com/office/powerpoint/2010/main" val="303893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A73FB062-1F9D-BB0B-AF63-848F07B02AE0}"/>
              </a:ext>
            </a:extLst>
          </p:cNvPr>
          <p:cNvSpPr txBox="1"/>
          <p:nvPr/>
        </p:nvSpPr>
        <p:spPr>
          <a:xfrm>
            <a:off x="6721813" y="1958494"/>
            <a:ext cx="4124508" cy="353943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s-PE" sz="2800" b="1" noProof="0" dirty="0">
              <a:latin typeface="Arial"/>
              <a:cs typeface="Arial"/>
            </a:endParaRPr>
          </a:p>
          <a:p>
            <a:pPr algn="just"/>
            <a:r>
              <a:rPr lang="es-PE" sz="2800" b="1" noProof="0" dirty="0">
                <a:latin typeface="Arial"/>
                <a:cs typeface="Arial"/>
              </a:rPr>
              <a:t>Es un proceso de interacción social mediante el cual las personas transmiten información por medio de signos convencionales.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55D3093-D270-9CF8-8924-CEE6DAB6DBA5}"/>
              </a:ext>
            </a:extLst>
          </p:cNvPr>
          <p:cNvSpPr/>
          <p:nvPr/>
        </p:nvSpPr>
        <p:spPr>
          <a:xfrm>
            <a:off x="1045027" y="406399"/>
            <a:ext cx="10101946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5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 LA COMUNICACIÓN HUMANA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623286-399C-B8B3-8C30-BD9D5538A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7" y="1985942"/>
            <a:ext cx="5412918" cy="3481003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3254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FCA4688-4D58-9927-E2AE-9B4185E02010}"/>
              </a:ext>
            </a:extLst>
          </p:cNvPr>
          <p:cNvSpPr/>
          <p:nvPr/>
        </p:nvSpPr>
        <p:spPr>
          <a:xfrm>
            <a:off x="1480542" y="329336"/>
            <a:ext cx="9964052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CLASES DE COMUNICACIÓN HUMANA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514450-55EF-A7C5-1D55-5CB9665EF63B}"/>
              </a:ext>
            </a:extLst>
          </p:cNvPr>
          <p:cNvSpPr txBox="1"/>
          <p:nvPr/>
        </p:nvSpPr>
        <p:spPr>
          <a:xfrm>
            <a:off x="560363" y="1805903"/>
            <a:ext cx="4991848" cy="1200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400" b="1" noProof="0" dirty="0">
                <a:latin typeface="Arial"/>
                <a:ea typeface="MS Mincho"/>
                <a:cs typeface="Arial"/>
              </a:rPr>
              <a:t>Es aquella en la que se emplea una lengua, ya sea de manera oral o escrita.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3A0C2B-1991-629E-7DBE-17D448A9D890}"/>
              </a:ext>
            </a:extLst>
          </p:cNvPr>
          <p:cNvSpPr txBox="1"/>
          <p:nvPr/>
        </p:nvSpPr>
        <p:spPr>
          <a:xfrm>
            <a:off x="664166" y="5549074"/>
            <a:ext cx="4886715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El congresista expresa un discurso con vehemencia.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C54F40-5D12-5AC8-9A6C-64CFCB2B4E86}"/>
              </a:ext>
            </a:extLst>
          </p:cNvPr>
          <p:cNvSpPr txBox="1"/>
          <p:nvPr/>
        </p:nvSpPr>
        <p:spPr>
          <a:xfrm>
            <a:off x="6112574" y="1805903"/>
            <a:ext cx="5519063" cy="156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400" b="1" noProof="0" dirty="0">
                <a:latin typeface="Arial"/>
                <a:ea typeface="MS Mincho"/>
                <a:cs typeface="Arial"/>
              </a:rPr>
              <a:t>Es aquella en la que no se emplea una lengua. Se usa gestos, sonidos, movimientos corporales, olores, colores, etc.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B61243-490F-11D0-1890-8CF98AB85B79}"/>
              </a:ext>
            </a:extLst>
          </p:cNvPr>
          <p:cNvSpPr txBox="1"/>
          <p:nvPr/>
        </p:nvSpPr>
        <p:spPr>
          <a:xfrm>
            <a:off x="6215047" y="5549074"/>
            <a:ext cx="5312787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cs typeface="Arial"/>
              </a:rPr>
              <a:t>El árbitro le mostró la tarjeta roja a Messi.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6FD4DC-8A7E-6C14-5AEF-4837A91917C3}"/>
              </a:ext>
            </a:extLst>
          </p:cNvPr>
          <p:cNvSpPr txBox="1"/>
          <p:nvPr/>
        </p:nvSpPr>
        <p:spPr>
          <a:xfrm>
            <a:off x="902793" y="1272075"/>
            <a:ext cx="4142091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a. Verbal o lingüística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B721B0-CF59-0DE5-1C3E-9550827087C0}"/>
              </a:ext>
            </a:extLst>
          </p:cNvPr>
          <p:cNvSpPr txBox="1"/>
          <p:nvPr/>
        </p:nvSpPr>
        <p:spPr>
          <a:xfrm>
            <a:off x="6200674" y="1272075"/>
            <a:ext cx="5341529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b. No verbal o no lingüística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E6C2722-FD07-DF4F-BCA2-2B870E8B4D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427"/>
          <a:stretch>
            <a:fillRect/>
          </a:stretch>
        </p:blipFill>
        <p:spPr>
          <a:xfrm>
            <a:off x="1328800" y="3540918"/>
            <a:ext cx="3290075" cy="16560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1D1BED9-18D7-CE58-0429-AAF001267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402" y="3540918"/>
            <a:ext cx="3290075" cy="1656856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07688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 animBg="1"/>
      <p:bldP spid="3" grpId="0"/>
      <p:bldP spid="5" grpId="0" animBg="1"/>
      <p:bldP spid="2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7A09-AC78-6D52-7CAB-F061DA52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AA70D8-D319-EC62-34F8-DF837AA89478}"/>
              </a:ext>
            </a:extLst>
          </p:cNvPr>
          <p:cNvSpPr txBox="1"/>
          <p:nvPr/>
        </p:nvSpPr>
        <p:spPr>
          <a:xfrm>
            <a:off x="650307" y="1731298"/>
            <a:ext cx="4641246" cy="1200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</a:defRPr>
            </a:lvl1pPr>
          </a:lstStyle>
          <a:p>
            <a:pPr algn="just"/>
            <a:r>
              <a:rPr lang="es-PE" sz="2400" noProof="0" dirty="0">
                <a:solidFill>
                  <a:schemeClr val="tx1"/>
                </a:solidFill>
                <a:latin typeface="Arial"/>
                <a:cs typeface="Arial"/>
              </a:rPr>
              <a:t>El emisor y el receptor se comunican en un mismo espacio o lugar.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BF433C-C7F6-C077-E6CC-423BD014F1DE}"/>
              </a:ext>
            </a:extLst>
          </p:cNvPr>
          <p:cNvSpPr txBox="1"/>
          <p:nvPr/>
        </p:nvSpPr>
        <p:spPr>
          <a:xfrm>
            <a:off x="756331" y="5223506"/>
            <a:ext cx="4641246" cy="1200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El docente explica el tema de la comunicación a sus alumnos en el aula.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96E4C2-0744-4C0D-DE6D-7775AE238A83}"/>
              </a:ext>
            </a:extLst>
          </p:cNvPr>
          <p:cNvSpPr txBox="1"/>
          <p:nvPr/>
        </p:nvSpPr>
        <p:spPr>
          <a:xfrm>
            <a:off x="5941860" y="1854068"/>
            <a:ext cx="5599834" cy="830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</a:defRPr>
            </a:lvl1pPr>
          </a:lstStyle>
          <a:p>
            <a:r>
              <a:rPr lang="es-PE" sz="2400" noProof="0" dirty="0">
                <a:solidFill>
                  <a:schemeClr val="tx1"/>
                </a:solidFill>
                <a:latin typeface="Arial"/>
                <a:cs typeface="Arial"/>
              </a:rPr>
              <a:t>El emisor y receptor se comunican en espacios o lugares distintos.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2A7343-9349-88CC-6482-8E4C654E9F5A}"/>
              </a:ext>
            </a:extLst>
          </p:cNvPr>
          <p:cNvSpPr txBox="1"/>
          <p:nvPr/>
        </p:nvSpPr>
        <p:spPr>
          <a:xfrm>
            <a:off x="6364041" y="5223506"/>
            <a:ext cx="4755469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Natalia conversa con su amigo por celular.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C0952D-EB49-0295-7F33-3DB91015A657}"/>
              </a:ext>
            </a:extLst>
          </p:cNvPr>
          <p:cNvSpPr txBox="1"/>
          <p:nvPr/>
        </p:nvSpPr>
        <p:spPr>
          <a:xfrm>
            <a:off x="2547688" y="1216921"/>
            <a:ext cx="1914301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c. Directa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4DAE16-A302-2073-633B-F8F4C8E8ABC4}"/>
              </a:ext>
            </a:extLst>
          </p:cNvPr>
          <p:cNvSpPr txBox="1"/>
          <p:nvPr/>
        </p:nvSpPr>
        <p:spPr>
          <a:xfrm>
            <a:off x="7424459" y="1300065"/>
            <a:ext cx="2634634" cy="554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d. Indirecta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C3B7EAE-E58F-DD60-5938-D97A802C15E5}"/>
              </a:ext>
            </a:extLst>
          </p:cNvPr>
          <p:cNvSpPr/>
          <p:nvPr/>
        </p:nvSpPr>
        <p:spPr>
          <a:xfrm>
            <a:off x="1113974" y="249079"/>
            <a:ext cx="9964052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CLASES DE COMUNICACIÓN HUMANA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0714E4-4FA7-D6DF-D9E2-4DE49ECD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8" b="5877"/>
          <a:stretch>
            <a:fillRect/>
          </a:stretch>
        </p:blipFill>
        <p:spPr>
          <a:xfrm>
            <a:off x="7071035" y="3298205"/>
            <a:ext cx="3341482" cy="16560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7467670-BC9A-8018-AAEE-3BDAB52B0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92" y="3298205"/>
            <a:ext cx="3290075" cy="16560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46342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2" grpId="0"/>
      <p:bldP spid="6" grpId="0" animBg="1"/>
      <p:bldP spid="7" grpId="0"/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929-3D5C-49C0-83B5-9B3E34AD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29FC2E-9636-B276-AB8E-A8CE514F702B}"/>
              </a:ext>
            </a:extLst>
          </p:cNvPr>
          <p:cNvSpPr txBox="1"/>
          <p:nvPr/>
        </p:nvSpPr>
        <p:spPr>
          <a:xfrm>
            <a:off x="523723" y="1893093"/>
            <a:ext cx="5384252" cy="1231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sz="2400" noProof="0" dirty="0">
                <a:solidFill>
                  <a:schemeClr val="tx1"/>
                </a:solidFill>
              </a:rPr>
              <a:t>El mensaje va de emisor a receptor </a:t>
            </a:r>
            <a:r>
              <a:rPr lang="es-PE" noProof="0" dirty="0">
                <a:solidFill>
                  <a:schemeClr val="tx1"/>
                </a:solidFill>
              </a:rPr>
              <a:t>en una sola dirección </a:t>
            </a:r>
            <a:r>
              <a:rPr lang="es-PE" sz="2400" noProof="0" dirty="0">
                <a:solidFill>
                  <a:schemeClr val="tx1"/>
                </a:solidFill>
              </a:rPr>
              <a:t>sin que este responda.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FE54BC-C728-1940-FAD1-98179F2C1332}"/>
              </a:ext>
            </a:extLst>
          </p:cNvPr>
          <p:cNvSpPr txBox="1"/>
          <p:nvPr/>
        </p:nvSpPr>
        <p:spPr>
          <a:xfrm>
            <a:off x="612006" y="5568511"/>
            <a:ext cx="5155778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Efigenio lee </a:t>
            </a:r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La ciudad y los perros </a:t>
            </a:r>
            <a:r>
              <a:rPr lang="es-PE" sz="2400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de Vargas Llosa.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F71E7B-3CE8-7042-7018-7B18A5C6E0EA}"/>
              </a:ext>
            </a:extLst>
          </p:cNvPr>
          <p:cNvSpPr txBox="1"/>
          <p:nvPr/>
        </p:nvSpPr>
        <p:spPr>
          <a:xfrm>
            <a:off x="6431698" y="1893093"/>
            <a:ext cx="5236578" cy="86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sz="2400" noProof="0" dirty="0">
                <a:solidFill>
                  <a:schemeClr val="tx1"/>
                </a:solidFill>
              </a:rPr>
              <a:t>El mensaje va de emisor a receptor el cual sí responde.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DD13FE-083C-2A43-326A-5980928FFFAB}"/>
              </a:ext>
            </a:extLst>
          </p:cNvPr>
          <p:cNvSpPr txBox="1"/>
          <p:nvPr/>
        </p:nvSpPr>
        <p:spPr>
          <a:xfrm>
            <a:off x="6379791" y="5564326"/>
            <a:ext cx="5200203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ctr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b="0" i="1" noProof="0" dirty="0">
                <a:solidFill>
                  <a:srgbClr val="0070C0"/>
                </a:solidFill>
              </a:rPr>
              <a:t>El ingeniero dialoga con el operario de la obra de construcción.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DFA114-45CB-3DA9-5EF7-709447F1B700}"/>
              </a:ext>
            </a:extLst>
          </p:cNvPr>
          <p:cNvSpPr txBox="1"/>
          <p:nvPr/>
        </p:nvSpPr>
        <p:spPr>
          <a:xfrm>
            <a:off x="1994843" y="1325821"/>
            <a:ext cx="3264037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e. Unidireccional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FFD77A-0996-A0DA-6D4B-49715B084931}"/>
              </a:ext>
            </a:extLst>
          </p:cNvPr>
          <p:cNvSpPr txBox="1"/>
          <p:nvPr/>
        </p:nvSpPr>
        <p:spPr>
          <a:xfrm>
            <a:off x="7253723" y="1293674"/>
            <a:ext cx="2943434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f. Bidireccional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5D0CD69-5913-1962-A46E-CB7184C3D097}"/>
              </a:ext>
            </a:extLst>
          </p:cNvPr>
          <p:cNvSpPr/>
          <p:nvPr/>
        </p:nvSpPr>
        <p:spPr>
          <a:xfrm>
            <a:off x="1113974" y="344235"/>
            <a:ext cx="9964052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CLASES DE COMUNICACIÓN HUMANA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8FCDB9-BC1C-EE17-CEF6-2326B082E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00" y="3550601"/>
            <a:ext cx="3290075" cy="1646317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DE4665C-216C-CC7B-64C4-5CEECC374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54" y="3540918"/>
            <a:ext cx="3290075" cy="16560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0CB58E4-FF55-0B81-092C-A5FA077FB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854" y="3550601"/>
            <a:ext cx="3290075" cy="164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0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7" grpId="0" animBg="1"/>
      <p:bldP spid="2" grpId="0"/>
      <p:bldP spid="4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373C-579A-FFB5-83CA-97397F85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07CAEA7-CB4D-1466-BA49-B41297173F66}"/>
              </a:ext>
            </a:extLst>
          </p:cNvPr>
          <p:cNvSpPr txBox="1"/>
          <p:nvPr/>
        </p:nvSpPr>
        <p:spPr>
          <a:xfrm>
            <a:off x="614699" y="1840227"/>
            <a:ext cx="4961013" cy="86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sz="2400" noProof="0" dirty="0">
                <a:solidFill>
                  <a:schemeClr val="tx1"/>
                </a:solidFill>
              </a:rPr>
              <a:t>Es el diálogo que se sostiene con uno mismo.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C927E2-728A-CCF1-BD11-F06065F32D4D}"/>
              </a:ext>
            </a:extLst>
          </p:cNvPr>
          <p:cNvSpPr txBox="1"/>
          <p:nvPr/>
        </p:nvSpPr>
        <p:spPr>
          <a:xfrm>
            <a:off x="728609" y="5217337"/>
            <a:ext cx="4619285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Luis se cuestiona sobre sus "amores de paso".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7087FA7-FAEE-6EC1-523F-03E20F0AF459}"/>
              </a:ext>
            </a:extLst>
          </p:cNvPr>
          <p:cNvSpPr txBox="1"/>
          <p:nvPr/>
        </p:nvSpPr>
        <p:spPr>
          <a:xfrm>
            <a:off x="6190411" y="1802136"/>
            <a:ext cx="5386889" cy="86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sz="2400" noProof="0" dirty="0">
                <a:solidFill>
                  <a:schemeClr val="tx1"/>
                </a:solidFill>
              </a:rPr>
              <a:t>Es el diálogo que se sostiene con otra(s) persona(s).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DA5358-A696-3BF3-F795-8B5270482026}"/>
              </a:ext>
            </a:extLst>
          </p:cNvPr>
          <p:cNvSpPr txBox="1"/>
          <p:nvPr/>
        </p:nvSpPr>
        <p:spPr>
          <a:xfrm>
            <a:off x="6076503" y="5217337"/>
            <a:ext cx="5386889" cy="1200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Los estudiantes de la UNI se reúnen para tratar temáticas alusivas a su futuro profesional.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853109-70D6-BEBC-72AE-4C016D07A6FB}"/>
              </a:ext>
            </a:extLst>
          </p:cNvPr>
          <p:cNvSpPr txBox="1"/>
          <p:nvPr/>
        </p:nvSpPr>
        <p:spPr>
          <a:xfrm>
            <a:off x="1559369" y="1275075"/>
            <a:ext cx="3071672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g. Intrapersonal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938D42-DB15-834E-D690-3D622076F3E3}"/>
              </a:ext>
            </a:extLst>
          </p:cNvPr>
          <p:cNvSpPr txBox="1"/>
          <p:nvPr/>
        </p:nvSpPr>
        <p:spPr>
          <a:xfrm>
            <a:off x="7104110" y="1275075"/>
            <a:ext cx="3071672" cy="554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h. Interpersonal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507C6AE-8540-F055-4BC4-45B6EF37A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13" y="3136508"/>
            <a:ext cx="3290075" cy="1646317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01B1300-E88E-54DC-668A-4FB5CDE06D7B}"/>
              </a:ext>
            </a:extLst>
          </p:cNvPr>
          <p:cNvSpPr/>
          <p:nvPr/>
        </p:nvSpPr>
        <p:spPr>
          <a:xfrm>
            <a:off x="1113974" y="288111"/>
            <a:ext cx="9964052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CLASES DE COMUNICACIÓN HUMANA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2804E07-7892-14BB-8D8F-FA2D9D59DF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79" b="13992"/>
          <a:stretch>
            <a:fillRect/>
          </a:stretch>
        </p:blipFill>
        <p:spPr>
          <a:xfrm>
            <a:off x="7238817" y="3136508"/>
            <a:ext cx="3290075" cy="1646317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07603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2" grpId="0"/>
      <p:bldP spid="6" grpId="0" animBg="1"/>
      <p:bldP spid="7" grpId="0"/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93A7-462C-CBE8-72FF-7CD4E355E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3178B6F-AA25-2653-08F2-155AD278405A}"/>
              </a:ext>
            </a:extLst>
          </p:cNvPr>
          <p:cNvSpPr/>
          <p:nvPr/>
        </p:nvSpPr>
        <p:spPr>
          <a:xfrm>
            <a:off x="1263243" y="354103"/>
            <a:ext cx="10018048" cy="1234152"/>
          </a:xfrm>
          <a:prstGeom prst="round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3600" b="1" noProof="0" dirty="0">
                <a:solidFill>
                  <a:srgbClr val="FF0000"/>
                </a:solidFill>
                <a:latin typeface="Arial"/>
                <a:cs typeface="Arial"/>
              </a:rPr>
              <a:t>¿Qué tipo de comunicación se presenta en cada situación?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2B82AAB-EE9E-280C-E13A-84A7F94425F0}"/>
              </a:ext>
            </a:extLst>
          </p:cNvPr>
          <p:cNvSpPr/>
          <p:nvPr/>
        </p:nvSpPr>
        <p:spPr>
          <a:xfrm>
            <a:off x="1302464" y="1711807"/>
            <a:ext cx="4328024" cy="808625"/>
          </a:xfrm>
          <a:prstGeom prst="roundRect">
            <a:avLst/>
          </a:prstGeom>
          <a:solidFill>
            <a:srgbClr val="FFFFCC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ACTO COMUNICATIVO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4A1347D-57DF-E43B-719C-4689E4D5EB1D}"/>
              </a:ext>
            </a:extLst>
          </p:cNvPr>
          <p:cNvSpPr/>
          <p:nvPr/>
        </p:nvSpPr>
        <p:spPr>
          <a:xfrm>
            <a:off x="6409101" y="1681808"/>
            <a:ext cx="4719786" cy="808625"/>
          </a:xfrm>
          <a:prstGeom prst="roundRect">
            <a:avLst/>
          </a:prstGeom>
          <a:solidFill>
            <a:srgbClr val="FFFFCC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TIPO DE COMUNICACIÓN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9C4F84-890E-35BE-5F3A-C3A795A76845}"/>
              </a:ext>
            </a:extLst>
          </p:cNvPr>
          <p:cNvSpPr txBox="1"/>
          <p:nvPr/>
        </p:nvSpPr>
        <p:spPr>
          <a:xfrm>
            <a:off x="7541002" y="3048776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1800" noProof="0" dirty="0">
                <a:latin typeface="Arial"/>
                <a:cs typeface="Arial"/>
              </a:rPr>
              <a:t>a. No lingüística o no verbal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CFC7A0-2366-D248-7152-3BE0FF1FADC8}"/>
              </a:ext>
            </a:extLst>
          </p:cNvPr>
          <p:cNvSpPr txBox="1"/>
          <p:nvPr/>
        </p:nvSpPr>
        <p:spPr>
          <a:xfrm>
            <a:off x="7541002" y="3713689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1800" noProof="0" dirty="0">
                <a:latin typeface="Arial"/>
                <a:cs typeface="Arial"/>
              </a:rPr>
              <a:t>b. No lingüística o no verbal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6C54692-E1AA-10FD-DCD1-C858337B1DEE}"/>
              </a:ext>
            </a:extLst>
          </p:cNvPr>
          <p:cNvSpPr txBox="1"/>
          <p:nvPr/>
        </p:nvSpPr>
        <p:spPr>
          <a:xfrm>
            <a:off x="7541002" y="5054412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Arial"/>
                <a:cs typeface="Arial"/>
              </a:rPr>
              <a:t>d</a:t>
            </a:r>
            <a:r>
              <a:rPr lang="es-PE" sz="1800" noProof="0" dirty="0">
                <a:latin typeface="Arial"/>
                <a:cs typeface="Arial"/>
              </a:rPr>
              <a:t>. No lingüística o no verbal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8099CF0-AFCA-7E75-AE07-AB83C468E5BB}"/>
              </a:ext>
            </a:extLst>
          </p:cNvPr>
          <p:cNvSpPr txBox="1"/>
          <p:nvPr/>
        </p:nvSpPr>
        <p:spPr>
          <a:xfrm>
            <a:off x="7541002" y="4429355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Arial"/>
                <a:cs typeface="Arial"/>
              </a:rPr>
              <a:t>c</a:t>
            </a:r>
            <a:r>
              <a:rPr lang="es-PE" sz="1800" noProof="0" dirty="0">
                <a:latin typeface="Arial"/>
                <a:cs typeface="Arial"/>
              </a:rPr>
              <a:t>. </a:t>
            </a:r>
            <a:r>
              <a:rPr lang="es-PE" noProof="0" dirty="0">
                <a:latin typeface="Arial"/>
                <a:cs typeface="Arial"/>
              </a:rPr>
              <a:t>L</a:t>
            </a:r>
            <a:r>
              <a:rPr lang="es-PE" sz="1800" noProof="0" dirty="0">
                <a:latin typeface="Arial"/>
                <a:cs typeface="Arial"/>
              </a:rPr>
              <a:t>ingüística o verbal escrita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51427AC-677B-C327-0EA5-5930E2B64399}"/>
              </a:ext>
            </a:extLst>
          </p:cNvPr>
          <p:cNvSpPr txBox="1"/>
          <p:nvPr/>
        </p:nvSpPr>
        <p:spPr>
          <a:xfrm>
            <a:off x="7541002" y="5708428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noProof="0" dirty="0">
                <a:latin typeface="Arial"/>
                <a:cs typeface="Arial"/>
              </a:rPr>
              <a:t>e</a:t>
            </a:r>
            <a:r>
              <a:rPr lang="es-PE" sz="1800" noProof="0" dirty="0">
                <a:latin typeface="Arial"/>
                <a:cs typeface="Arial"/>
              </a:rPr>
              <a:t>. No lingüística o no verbal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0EBF3B1-5913-E738-649C-2F584C087222}"/>
              </a:ext>
            </a:extLst>
          </p:cNvPr>
          <p:cNvSpPr txBox="1"/>
          <p:nvPr/>
        </p:nvSpPr>
        <p:spPr>
          <a:xfrm>
            <a:off x="1281026" y="2872821"/>
            <a:ext cx="483528" cy="369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noProof="0" dirty="0"/>
              <a:t>1.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798EF6A-99BC-849E-FF64-AEC563A3BC0F}"/>
              </a:ext>
            </a:extLst>
          </p:cNvPr>
          <p:cNvSpPr txBox="1"/>
          <p:nvPr/>
        </p:nvSpPr>
        <p:spPr>
          <a:xfrm>
            <a:off x="1281026" y="3757821"/>
            <a:ext cx="60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1800" noProof="0" dirty="0">
                <a:latin typeface="Arial"/>
                <a:ea typeface="Times New Roman"/>
                <a:cs typeface="Arial"/>
              </a:rPr>
              <a:t>2.  Un abrazo entre amigos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FA7C89B-3157-CDD0-401D-32AD52CBC747}"/>
              </a:ext>
            </a:extLst>
          </p:cNvPr>
          <p:cNvSpPr txBox="1"/>
          <p:nvPr/>
        </p:nvSpPr>
        <p:spPr>
          <a:xfrm>
            <a:off x="1281026" y="4354812"/>
            <a:ext cx="60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1800" noProof="0" dirty="0">
                <a:latin typeface="Arial"/>
                <a:ea typeface="Times New Roman"/>
                <a:cs typeface="Arial"/>
              </a:rPr>
              <a:t>3.  Evelyn lee la carta del menú.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6EE1595-29E1-4475-2775-9DA8A0C25044}"/>
              </a:ext>
            </a:extLst>
          </p:cNvPr>
          <p:cNvSpPr txBox="1"/>
          <p:nvPr/>
        </p:nvSpPr>
        <p:spPr>
          <a:xfrm>
            <a:off x="1281026" y="4951803"/>
            <a:ext cx="6096004" cy="56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1800" noProof="0" dirty="0">
                <a:latin typeface="Arial"/>
                <a:ea typeface="Times New Roman"/>
                <a:cs typeface="Arial"/>
              </a:rPr>
              <a:t>4.   El pulgar arriba en una conversación 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44F65E1-5C58-7F05-F81D-D375E6F8C1F7}"/>
              </a:ext>
            </a:extLst>
          </p:cNvPr>
          <p:cNvSpPr txBox="1"/>
          <p:nvPr/>
        </p:nvSpPr>
        <p:spPr>
          <a:xfrm>
            <a:off x="1281026" y="5548794"/>
            <a:ext cx="6096004" cy="56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1800" noProof="0" dirty="0">
                <a:latin typeface="Arial"/>
                <a:ea typeface="Times New Roman"/>
                <a:cs typeface="Arial"/>
              </a:rPr>
              <a:t>5.   Los gifs usados en las redes sociales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D8ECF5C-F8D0-5890-2200-1A31DBEA4AB3}"/>
              </a:ext>
            </a:extLst>
          </p:cNvPr>
          <p:cNvSpPr txBox="1"/>
          <p:nvPr/>
        </p:nvSpPr>
        <p:spPr>
          <a:xfrm>
            <a:off x="1281026" y="6145787"/>
            <a:ext cx="6096004" cy="56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1800" noProof="0" dirty="0">
                <a:latin typeface="Arial"/>
                <a:ea typeface="Times New Roman"/>
                <a:cs typeface="Arial"/>
              </a:rPr>
              <a:t>6.   El silbatazo final en un partido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95F7DF-429F-5353-FA6E-1DD6D842D295}"/>
              </a:ext>
            </a:extLst>
          </p:cNvPr>
          <p:cNvSpPr txBox="1"/>
          <p:nvPr/>
        </p:nvSpPr>
        <p:spPr>
          <a:xfrm>
            <a:off x="7462290" y="6241327"/>
            <a:ext cx="3339410" cy="36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noProof="0" dirty="0">
                <a:latin typeface="Arial"/>
                <a:cs typeface="Arial"/>
              </a:rPr>
              <a:t>e</a:t>
            </a:r>
            <a:r>
              <a:rPr lang="es-PE" sz="1800" noProof="0" dirty="0">
                <a:latin typeface="Arial"/>
                <a:cs typeface="Arial"/>
              </a:rPr>
              <a:t>. No lingüística o no verbal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00F5FC-7359-906C-23D7-58203532FA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426" y="2709018"/>
            <a:ext cx="1128623" cy="112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6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4" grpId="0" animBg="1"/>
      <p:bldP spid="7" grpId="0" animBg="1"/>
      <p:bldP spid="11" grpId="0" animBg="1"/>
      <p:bldP spid="18" grpId="0" animBg="1"/>
      <p:bldP spid="20" grpId="0" animBg="1"/>
      <p:bldP spid="22" grpId="0" animBg="1"/>
      <p:bldP spid="25" grpId="0"/>
      <p:bldP spid="26" grpId="0"/>
      <p:bldP spid="27" grpId="0"/>
      <p:bldP spid="28" grpId="0"/>
      <p:bldP spid="29" grpId="0"/>
      <p:bldP spid="30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D7DF-E418-3916-2865-89D91E67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ECBAAC5-E556-C7BE-8E0D-94D607D0CDD9}"/>
              </a:ext>
            </a:extLst>
          </p:cNvPr>
          <p:cNvSpPr/>
          <p:nvPr/>
        </p:nvSpPr>
        <p:spPr>
          <a:xfrm>
            <a:off x="739597" y="325234"/>
            <a:ext cx="10712807" cy="864000"/>
          </a:xfrm>
          <a:prstGeom prst="round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36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ELEMENTOS DE LA COMUNICACIÓN HUMANA</a:t>
            </a:r>
          </a:p>
        </p:txBody>
      </p:sp>
      <p:pic>
        <p:nvPicPr>
          <p:cNvPr id="10" name="Imagen 9" descr="Dibujo en blanco y negr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6600239-4851-3454-1D68-2E7CA624C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7160" y="2364957"/>
            <a:ext cx="1613217" cy="19760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15" name="Imagen 14" descr="Patrón de fondo&#10;&#10;Descripción generada automáticamente">
            <a:extLst>
              <a:ext uri="{FF2B5EF4-FFF2-40B4-BE49-F238E27FC236}">
                <a16:creationId xmlns:a16="http://schemas.microsoft.com/office/drawing/2014/main" id="{19A7BC32-6F65-E0A8-8BDD-678FB7AA78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788625" y="2403034"/>
            <a:ext cx="1698566" cy="1974144"/>
          </a:xfrm>
          <a:prstGeom prst="rect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853DDA9-8047-74FD-2253-E7559D44AA58}"/>
              </a:ext>
            </a:extLst>
          </p:cNvPr>
          <p:cNvSpPr/>
          <p:nvPr/>
        </p:nvSpPr>
        <p:spPr>
          <a:xfrm>
            <a:off x="4833625" y="1328765"/>
            <a:ext cx="2381073" cy="7394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00" b="1" noProof="0" dirty="0">
                <a:solidFill>
                  <a:schemeClr val="tx1"/>
                </a:solidFill>
                <a:latin typeface="Arial"/>
                <a:cs typeface="Arial"/>
              </a:rPr>
              <a:t>REFERENTE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C199768-3007-AE88-74AF-602EB464840E}"/>
              </a:ext>
            </a:extLst>
          </p:cNvPr>
          <p:cNvSpPr/>
          <p:nvPr/>
        </p:nvSpPr>
        <p:spPr>
          <a:xfrm>
            <a:off x="4833625" y="2560183"/>
            <a:ext cx="2381073" cy="6463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00" b="1" noProof="0" dirty="0">
                <a:solidFill>
                  <a:schemeClr val="tx1"/>
                </a:solidFill>
                <a:latin typeface="Arial"/>
                <a:cs typeface="Arial"/>
              </a:rPr>
              <a:t>MENSAJE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EB993E5-0552-424E-3696-F62F4CF3A0D3}"/>
              </a:ext>
            </a:extLst>
          </p:cNvPr>
          <p:cNvSpPr/>
          <p:nvPr/>
        </p:nvSpPr>
        <p:spPr>
          <a:xfrm>
            <a:off x="4833625" y="3771927"/>
            <a:ext cx="2381073" cy="646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00" b="1" noProof="0" dirty="0">
                <a:solidFill>
                  <a:schemeClr val="tx1"/>
                </a:solidFill>
                <a:latin typeface="Arial"/>
                <a:cs typeface="Arial"/>
              </a:rPr>
              <a:t>CÓDIGO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3F9D4E3-E842-527E-5A48-1D4555FF2C71}"/>
              </a:ext>
            </a:extLst>
          </p:cNvPr>
          <p:cNvSpPr/>
          <p:nvPr/>
        </p:nvSpPr>
        <p:spPr>
          <a:xfrm>
            <a:off x="4877353" y="4965687"/>
            <a:ext cx="2381073" cy="646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00" b="1" noProof="0" dirty="0">
                <a:solidFill>
                  <a:schemeClr val="tx1"/>
                </a:solidFill>
                <a:latin typeface="Arial"/>
                <a:cs typeface="Arial"/>
              </a:rPr>
              <a:t>CANAL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1965F58-056F-DC43-8594-35B26394A854}"/>
              </a:ext>
            </a:extLst>
          </p:cNvPr>
          <p:cNvSpPr/>
          <p:nvPr/>
        </p:nvSpPr>
        <p:spPr>
          <a:xfrm>
            <a:off x="4852713" y="5832704"/>
            <a:ext cx="2381073" cy="646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00" b="1" noProof="0" dirty="0">
                <a:solidFill>
                  <a:schemeClr val="tx1"/>
                </a:solidFill>
                <a:latin typeface="Arial"/>
                <a:cs typeface="Arial"/>
              </a:rPr>
              <a:t>CONTEXTO</a:t>
            </a:r>
          </a:p>
        </p:txBody>
      </p:sp>
      <p:sp>
        <p:nvSpPr>
          <p:cNvPr id="24" name="Flecha: hacia abajo 23">
            <a:extLst>
              <a:ext uri="{FF2B5EF4-FFF2-40B4-BE49-F238E27FC236}">
                <a16:creationId xmlns:a16="http://schemas.microsoft.com/office/drawing/2014/main" id="{56E56E95-19E1-8347-9033-D6A035F70688}"/>
              </a:ext>
            </a:extLst>
          </p:cNvPr>
          <p:cNvSpPr/>
          <p:nvPr/>
        </p:nvSpPr>
        <p:spPr>
          <a:xfrm flipV="1">
            <a:off x="5618740" y="2085486"/>
            <a:ext cx="810829" cy="4069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7278E5B0-9D06-4F4E-1E14-E49DE35C56B8}"/>
              </a:ext>
            </a:extLst>
          </p:cNvPr>
          <p:cNvSpPr/>
          <p:nvPr/>
        </p:nvSpPr>
        <p:spPr>
          <a:xfrm>
            <a:off x="5618740" y="3287952"/>
            <a:ext cx="810829" cy="4349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50BF02BB-F77A-257C-64D4-B5F6D10E35DB}"/>
              </a:ext>
            </a:extLst>
          </p:cNvPr>
          <p:cNvSpPr/>
          <p:nvPr/>
        </p:nvSpPr>
        <p:spPr>
          <a:xfrm>
            <a:off x="5618740" y="4467327"/>
            <a:ext cx="810829" cy="4349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2F0CE8A-C026-6C82-0601-A453A62CC1F9}"/>
              </a:ext>
            </a:extLst>
          </p:cNvPr>
          <p:cNvSpPr/>
          <p:nvPr/>
        </p:nvSpPr>
        <p:spPr>
          <a:xfrm>
            <a:off x="2723736" y="2750078"/>
            <a:ext cx="1390184" cy="4697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noProof="0" dirty="0">
                <a:solidFill>
                  <a:schemeClr val="tx1"/>
                </a:solidFill>
                <a:latin typeface="Arial"/>
                <a:cs typeface="Arial"/>
              </a:rPr>
              <a:t>EMISOR</a:t>
            </a: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F7E8DE9B-8C23-FB6D-B678-C385A5F3DEEA}"/>
              </a:ext>
            </a:extLst>
          </p:cNvPr>
          <p:cNvSpPr/>
          <p:nvPr/>
        </p:nvSpPr>
        <p:spPr>
          <a:xfrm rot="5400000">
            <a:off x="7099436" y="2722536"/>
            <a:ext cx="810829" cy="4349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E7B478B3-DADB-17F3-6AB4-0F558A155750}"/>
              </a:ext>
            </a:extLst>
          </p:cNvPr>
          <p:cNvSpPr/>
          <p:nvPr/>
        </p:nvSpPr>
        <p:spPr>
          <a:xfrm rot="16200000">
            <a:off x="4047408" y="2754557"/>
            <a:ext cx="810829" cy="4349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D02FC4B5-E5BB-2E72-4989-714BF0991889}"/>
              </a:ext>
            </a:extLst>
          </p:cNvPr>
          <p:cNvSpPr/>
          <p:nvPr/>
        </p:nvSpPr>
        <p:spPr>
          <a:xfrm>
            <a:off x="7771534" y="2750078"/>
            <a:ext cx="1749228" cy="43491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noProof="0" dirty="0">
                <a:solidFill>
                  <a:schemeClr val="tx1"/>
                </a:solidFill>
                <a:latin typeface="Arial"/>
                <a:cs typeface="Arial"/>
              </a:rPr>
              <a:t>RECEPTOR</a:t>
            </a:r>
          </a:p>
        </p:txBody>
      </p:sp>
      <p:sp>
        <p:nvSpPr>
          <p:cNvPr id="34" name="Flecha: curvada hacia abajo 33">
            <a:extLst>
              <a:ext uri="{FF2B5EF4-FFF2-40B4-BE49-F238E27FC236}">
                <a16:creationId xmlns:a16="http://schemas.microsoft.com/office/drawing/2014/main" id="{40E08F69-19A9-B673-40FE-8A58CCFDC47C}"/>
              </a:ext>
            </a:extLst>
          </p:cNvPr>
          <p:cNvSpPr/>
          <p:nvPr/>
        </p:nvSpPr>
        <p:spPr>
          <a:xfrm>
            <a:off x="1762873" y="966513"/>
            <a:ext cx="8875035" cy="129646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5" name="Flecha: curvada hacia abajo 34">
            <a:extLst>
              <a:ext uri="{FF2B5EF4-FFF2-40B4-BE49-F238E27FC236}">
                <a16:creationId xmlns:a16="http://schemas.microsoft.com/office/drawing/2014/main" id="{199A90F0-9FBA-BEF9-1373-955DD2D3C854}"/>
              </a:ext>
            </a:extLst>
          </p:cNvPr>
          <p:cNvSpPr/>
          <p:nvPr/>
        </p:nvSpPr>
        <p:spPr>
          <a:xfrm flipH="1" flipV="1">
            <a:off x="1408211" y="4632247"/>
            <a:ext cx="9229697" cy="208453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4386EB-9BAD-28EB-4435-769A8469E7D0}"/>
              </a:ext>
            </a:extLst>
          </p:cNvPr>
          <p:cNvSpPr txBox="1"/>
          <p:nvPr/>
        </p:nvSpPr>
        <p:spPr>
          <a:xfrm>
            <a:off x="2723736" y="3233537"/>
            <a:ext cx="1390184" cy="3385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600" b="1" noProof="0" dirty="0">
                <a:solidFill>
                  <a:srgbClr val="0070C0"/>
                </a:solidFill>
              </a:rPr>
              <a:t>CODIFICA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112511-0944-8167-A4A9-15CFDB2D5256}"/>
              </a:ext>
            </a:extLst>
          </p:cNvPr>
          <p:cNvSpPr txBox="1"/>
          <p:nvPr/>
        </p:nvSpPr>
        <p:spPr>
          <a:xfrm>
            <a:off x="7795003" y="3206511"/>
            <a:ext cx="1725759" cy="3385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600" b="1" noProof="0" dirty="0">
                <a:solidFill>
                  <a:srgbClr val="0070C0"/>
                </a:solidFill>
              </a:rPr>
              <a:t>DECODIFICA</a:t>
            </a:r>
          </a:p>
        </p:txBody>
      </p:sp>
    </p:spTree>
    <p:extLst>
      <p:ext uri="{BB962C8B-B14F-4D97-AF65-F5344CB8AC3E}">
        <p14:creationId xmlns:p14="http://schemas.microsoft.com/office/powerpoint/2010/main" val="127324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89AA132-32B5-9D08-5574-EB6997490A9E}"/>
              </a:ext>
            </a:extLst>
          </p:cNvPr>
          <p:cNvSpPr/>
          <p:nvPr/>
        </p:nvSpPr>
        <p:spPr>
          <a:xfrm>
            <a:off x="2883085" y="192786"/>
            <a:ext cx="6425831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EJERCICIO APLICATIVO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0C9636-0542-A34A-9F2B-B15A3F5E334F}"/>
              </a:ext>
            </a:extLst>
          </p:cNvPr>
          <p:cNvSpPr/>
          <p:nvPr/>
        </p:nvSpPr>
        <p:spPr>
          <a:xfrm>
            <a:off x="670560" y="1056786"/>
            <a:ext cx="108508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2400" noProof="0" dirty="0">
                <a:latin typeface="Arial"/>
                <a:cs typeface="Arial"/>
              </a:rPr>
              <a:t>Reconoce los elementos de la comunicación humana en la situación comunicativa siguiente:</a:t>
            </a:r>
          </a:p>
          <a:p>
            <a:pPr algn="just"/>
            <a:r>
              <a:rPr lang="es-PE" sz="2400" b="1" i="1" noProof="0" dirty="0">
                <a:solidFill>
                  <a:srgbClr val="0070C0"/>
                </a:solidFill>
                <a:latin typeface="Arial"/>
                <a:cs typeface="Arial"/>
              </a:rPr>
              <a:t>En la sala, Bertha le comenta a Fabiana que ayer fue a pasear con sus sobrinos a Plaza Norte.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5227BA2-FD59-C438-A63E-E5F453882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34240"/>
              </p:ext>
            </p:extLst>
          </p:nvPr>
        </p:nvGraphicFramePr>
        <p:xfrm>
          <a:off x="1810175" y="2905464"/>
          <a:ext cx="9711266" cy="2895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3846">
                  <a:extLst>
                    <a:ext uri="{9D8B030D-6E8A-4147-A177-3AD203B41FA5}">
                      <a16:colId xmlns:a16="http://schemas.microsoft.com/office/drawing/2014/main" val="3258499409"/>
                    </a:ext>
                  </a:extLst>
                </a:gridCol>
                <a:gridCol w="7457420">
                  <a:extLst>
                    <a:ext uri="{9D8B030D-6E8A-4147-A177-3AD203B41FA5}">
                      <a16:colId xmlns:a16="http://schemas.microsoft.com/office/drawing/2014/main" val="3917068215"/>
                    </a:ext>
                  </a:extLst>
                </a:gridCol>
              </a:tblGrid>
              <a:tr h="382140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Emisor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354542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Receptor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96737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Mensaje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609560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Código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08668"/>
                  </a:ext>
                </a:extLst>
              </a:tr>
              <a:tr h="406325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Referente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509459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254888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2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Contexto</a:t>
                      </a:r>
                      <a:endParaRPr lang="es-PE" sz="24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D7"/>
                    </a:solidFill>
                  </a:tcPr>
                </a:tc>
                <a:tc>
                  <a:txBody>
                    <a:bodyPr/>
                    <a:lstStyle/>
                    <a:p>
                      <a:pPr marR="1651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PE" sz="25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018548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67DC497-EF9E-6CA8-A9A7-5496ACBC59F9}"/>
              </a:ext>
            </a:extLst>
          </p:cNvPr>
          <p:cNvSpPr txBox="1"/>
          <p:nvPr/>
        </p:nvSpPr>
        <p:spPr>
          <a:xfrm>
            <a:off x="4197066" y="2905464"/>
            <a:ext cx="1409914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0">
              <a:lnSpc>
                <a:spcPct val="107000"/>
              </a:lnSpc>
              <a:spcAft>
                <a:spcPts val="0"/>
              </a:spcAft>
            </a:pPr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Bertha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E190F0-5A55-5C20-B4E1-797876CD51EE}"/>
              </a:ext>
            </a:extLst>
          </p:cNvPr>
          <p:cNvSpPr txBox="1"/>
          <p:nvPr/>
        </p:nvSpPr>
        <p:spPr>
          <a:xfrm>
            <a:off x="4197066" y="3262924"/>
            <a:ext cx="1610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Fabiana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F4F6D4-A8F4-E363-3620-CABF3BB66C06}"/>
              </a:ext>
            </a:extLst>
          </p:cNvPr>
          <p:cNvSpPr txBox="1"/>
          <p:nvPr/>
        </p:nvSpPr>
        <p:spPr>
          <a:xfrm>
            <a:off x="4026244" y="3711219"/>
            <a:ext cx="7770521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buNone/>
            </a:pPr>
            <a:r>
              <a:rPr lang="es-PE" sz="2400" kern="100" noProof="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Que ayer fue a pasear con sus sobrinos a Plaza Norte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A7038B-EFC4-5E09-EC66-B8128F4E19A1}"/>
              </a:ext>
            </a:extLst>
          </p:cNvPr>
          <p:cNvSpPr txBox="1"/>
          <p:nvPr/>
        </p:nvSpPr>
        <p:spPr>
          <a:xfrm>
            <a:off x="4102240" y="4115694"/>
            <a:ext cx="6094324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0">
              <a:lnSpc>
                <a:spcPct val="107000"/>
              </a:lnSpc>
              <a:spcAft>
                <a:spcPts val="0"/>
              </a:spcAft>
            </a:pPr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Lingüístico oral (español)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DB5883-F406-A634-E030-0D9892A94B65}"/>
              </a:ext>
            </a:extLst>
          </p:cNvPr>
          <p:cNvSpPr txBox="1"/>
          <p:nvPr/>
        </p:nvSpPr>
        <p:spPr>
          <a:xfrm>
            <a:off x="4102240" y="4499674"/>
            <a:ext cx="6094324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0">
              <a:lnSpc>
                <a:spcPct val="107000"/>
              </a:lnSpc>
              <a:spcAft>
                <a:spcPts val="0"/>
              </a:spcAft>
            </a:pPr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El paseo a Plaza Norte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6120F1-DFB6-7762-F022-C3D4B310D581}"/>
              </a:ext>
            </a:extLst>
          </p:cNvPr>
          <p:cNvSpPr txBox="1"/>
          <p:nvPr/>
        </p:nvSpPr>
        <p:spPr>
          <a:xfrm>
            <a:off x="4102240" y="4921054"/>
            <a:ext cx="6094324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0">
              <a:lnSpc>
                <a:spcPct val="107000"/>
              </a:lnSpc>
              <a:spcAft>
                <a:spcPts val="0"/>
              </a:spcAft>
            </a:pPr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Ondas sonoras (aire)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602C3E-8328-11AC-84BD-F552D56C55BD}"/>
              </a:ext>
            </a:extLst>
          </p:cNvPr>
          <p:cNvSpPr txBox="1"/>
          <p:nvPr/>
        </p:nvSpPr>
        <p:spPr>
          <a:xfrm>
            <a:off x="4122336" y="5379834"/>
            <a:ext cx="6094324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0">
              <a:lnSpc>
                <a:spcPct val="107000"/>
              </a:lnSpc>
              <a:spcAft>
                <a:spcPts val="0"/>
              </a:spcAft>
            </a:pPr>
            <a:r>
              <a:rPr lang="es-PE" sz="2400" b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La sala </a:t>
            </a:r>
          </a:p>
        </p:txBody>
      </p:sp>
    </p:spTree>
    <p:extLst>
      <p:ext uri="{BB962C8B-B14F-4D97-AF65-F5344CB8AC3E}">
        <p14:creationId xmlns:p14="http://schemas.microsoft.com/office/powerpoint/2010/main" val="4853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07D66D6-8780-A326-868D-3A5884B60673}"/>
              </a:ext>
            </a:extLst>
          </p:cNvPr>
          <p:cNvSpPr/>
          <p:nvPr/>
        </p:nvSpPr>
        <p:spPr>
          <a:xfrm>
            <a:off x="2783539" y="191907"/>
            <a:ext cx="6624921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5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 EL LENGUAJE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4E901F-B0D7-4FE8-7CBA-6CFF46652A0B}"/>
              </a:ext>
            </a:extLst>
          </p:cNvPr>
          <p:cNvSpPr txBox="1"/>
          <p:nvPr/>
        </p:nvSpPr>
        <p:spPr>
          <a:xfrm>
            <a:off x="1226395" y="1263217"/>
            <a:ext cx="7999185" cy="83099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2400" noProof="0" dirty="0">
                <a:latin typeface="Arial"/>
                <a:cs typeface="Arial"/>
              </a:rPr>
              <a:t>Es la facultad exclusiva del ser humano de comunicarse con los demás a través de una lengua.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41D4B6-52AB-426F-AD9F-072DE2F57B31}"/>
              </a:ext>
            </a:extLst>
          </p:cNvPr>
          <p:cNvPicPr/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0" t="21617" r="23832" b="22595"/>
          <a:stretch>
            <a:fillRect/>
          </a:stretch>
        </p:blipFill>
        <p:spPr bwMode="auto">
          <a:xfrm flipH="1">
            <a:off x="4481433" y="3178089"/>
            <a:ext cx="2824822" cy="3014090"/>
          </a:xfrm>
          <a:prstGeom prst="rect">
            <a:avLst/>
          </a:prstGeom>
          <a:ln>
            <a:noFill/>
          </a:ln>
        </p:spPr>
      </p:pic>
      <p:sp>
        <p:nvSpPr>
          <p:cNvPr id="6" name="Nube 5">
            <a:extLst>
              <a:ext uri="{FF2B5EF4-FFF2-40B4-BE49-F238E27FC236}">
                <a16:creationId xmlns:a16="http://schemas.microsoft.com/office/drawing/2014/main" id="{07FA72E1-31A3-4354-0505-4B9148E9CF58}"/>
              </a:ext>
            </a:extLst>
          </p:cNvPr>
          <p:cNvSpPr/>
          <p:nvPr/>
        </p:nvSpPr>
        <p:spPr>
          <a:xfrm rot="12559985">
            <a:off x="4821570" y="3281334"/>
            <a:ext cx="1984140" cy="1924244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PE" sz="825" noProof="0" dirty="0">
                <a:ea typeface="Calibri"/>
                <a:cs typeface="Times New Roman"/>
              </a:rPr>
              <a:t> 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8128D7-8B76-9CC2-9C87-86E3142A5E02}"/>
              </a:ext>
            </a:extLst>
          </p:cNvPr>
          <p:cNvSpPr txBox="1"/>
          <p:nvPr/>
        </p:nvSpPr>
        <p:spPr>
          <a:xfrm>
            <a:off x="4722835" y="4042404"/>
            <a:ext cx="100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noProof="0" dirty="0">
                <a:solidFill>
                  <a:srgbClr val="0070C0"/>
                </a:solidFill>
                <a:latin typeface="Arial"/>
                <a:cs typeface="Arial"/>
              </a:rPr>
              <a:t>/</a:t>
            </a:r>
            <a:r>
              <a:rPr lang="es-PE" sz="2000" b="1" noProof="0" dirty="0" err="1">
                <a:solidFill>
                  <a:srgbClr val="0070C0"/>
                </a:solidFill>
                <a:latin typeface="Arial"/>
                <a:cs typeface="Arial"/>
              </a:rPr>
              <a:t>mésa</a:t>
            </a:r>
            <a:r>
              <a:rPr lang="es-PE" sz="2000" b="1" noProof="0" dirty="0">
                <a:solidFill>
                  <a:srgbClr val="0070C0"/>
                </a:solidFill>
                <a:latin typeface="Arial"/>
                <a:cs typeface="Arial"/>
              </a:rPr>
              <a:t>/</a:t>
            </a:r>
          </a:p>
        </p:txBody>
      </p:sp>
      <p:sp>
        <p:nvSpPr>
          <p:cNvPr id="9" name="Flecha: doblada 8">
            <a:extLst>
              <a:ext uri="{FF2B5EF4-FFF2-40B4-BE49-F238E27FC236}">
                <a16:creationId xmlns:a16="http://schemas.microsoft.com/office/drawing/2014/main" id="{12280663-99C7-E2C3-5881-82C119D0512A}"/>
              </a:ext>
            </a:extLst>
          </p:cNvPr>
          <p:cNvSpPr/>
          <p:nvPr/>
        </p:nvSpPr>
        <p:spPr>
          <a:xfrm rot="5400000">
            <a:off x="4097219" y="2805470"/>
            <a:ext cx="457604" cy="1944955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2CE6D47-D74D-7882-3907-21F7725BFD99}"/>
              </a:ext>
            </a:extLst>
          </p:cNvPr>
          <p:cNvSpPr/>
          <p:nvPr/>
        </p:nvSpPr>
        <p:spPr>
          <a:xfrm>
            <a:off x="1439619" y="3381840"/>
            <a:ext cx="1770743" cy="457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noProof="0" dirty="0">
                <a:solidFill>
                  <a:srgbClr val="0070C0"/>
                </a:solidFill>
                <a:latin typeface="Arial"/>
                <a:cs typeface="Arial"/>
              </a:rPr>
              <a:t>LENGUA</a:t>
            </a:r>
          </a:p>
        </p:txBody>
      </p:sp>
      <p:sp>
        <p:nvSpPr>
          <p:cNvPr id="12" name="Flecha: doblada 11">
            <a:extLst>
              <a:ext uri="{FF2B5EF4-FFF2-40B4-BE49-F238E27FC236}">
                <a16:creationId xmlns:a16="http://schemas.microsoft.com/office/drawing/2014/main" id="{0CF86082-0AD6-D1AE-8DF8-C88C62C60AB3}"/>
              </a:ext>
            </a:extLst>
          </p:cNvPr>
          <p:cNvSpPr/>
          <p:nvPr/>
        </p:nvSpPr>
        <p:spPr>
          <a:xfrm rot="5400000" flipV="1">
            <a:off x="7337705" y="3675515"/>
            <a:ext cx="1476175" cy="1284368"/>
          </a:xfrm>
          <a:prstGeom prst="bentArrow">
            <a:avLst>
              <a:gd name="adj1" fmla="val 10078"/>
              <a:gd name="adj2" fmla="val 11609"/>
              <a:gd name="adj3" fmla="val 11663"/>
              <a:gd name="adj4" fmla="val 32588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Bocadillo: rectángulo con esquinas redondeadas 12">
            <a:extLst>
              <a:ext uri="{FF2B5EF4-FFF2-40B4-BE49-F238E27FC236}">
                <a16:creationId xmlns:a16="http://schemas.microsoft.com/office/drawing/2014/main" id="{E52C7A72-72F8-71FD-1A18-2AFFFC391510}"/>
              </a:ext>
            </a:extLst>
          </p:cNvPr>
          <p:cNvSpPr/>
          <p:nvPr/>
        </p:nvSpPr>
        <p:spPr>
          <a:xfrm>
            <a:off x="7090230" y="5258148"/>
            <a:ext cx="1074056" cy="417309"/>
          </a:xfrm>
          <a:prstGeom prst="wedgeRoundRectCallout">
            <a:avLst>
              <a:gd name="adj1" fmla="val -62964"/>
              <a:gd name="adj2" fmla="val -7835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noProof="0" dirty="0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[mesa]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4678434-431B-83A4-9BB2-2CC8C47EAB41}"/>
              </a:ext>
            </a:extLst>
          </p:cNvPr>
          <p:cNvSpPr/>
          <p:nvPr/>
        </p:nvSpPr>
        <p:spPr>
          <a:xfrm>
            <a:off x="632821" y="3972804"/>
            <a:ext cx="3654321" cy="221937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noProof="0" dirty="0">
                <a:solidFill>
                  <a:schemeClr val="tx1"/>
                </a:solidFill>
                <a:latin typeface="Arial"/>
                <a:cs typeface="Arial"/>
              </a:rPr>
              <a:t>Es el sistema de signos lingüísticos que utilizamos para comunicarnos (castellano, quechua, etc.).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4185EAA-C3CE-6E5C-B056-43186594E612}"/>
              </a:ext>
            </a:extLst>
          </p:cNvPr>
          <p:cNvSpPr/>
          <p:nvPr/>
        </p:nvSpPr>
        <p:spPr>
          <a:xfrm>
            <a:off x="9034903" y="3439569"/>
            <a:ext cx="1770743" cy="457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noProof="0" dirty="0">
                <a:solidFill>
                  <a:srgbClr val="0070C0"/>
                </a:solidFill>
                <a:latin typeface="Arial"/>
                <a:cs typeface="Arial"/>
              </a:rPr>
              <a:t>HABLA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9B7CE88-E76D-68D9-0754-60FEDCEDAA3D}"/>
              </a:ext>
            </a:extLst>
          </p:cNvPr>
          <p:cNvSpPr/>
          <p:nvPr/>
        </p:nvSpPr>
        <p:spPr>
          <a:xfrm>
            <a:off x="8093115" y="4014717"/>
            <a:ext cx="3654321" cy="221937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noProof="0" dirty="0">
                <a:solidFill>
                  <a:schemeClr val="tx1"/>
                </a:solidFill>
                <a:latin typeface="Arial"/>
                <a:cs typeface="Arial"/>
              </a:rPr>
              <a:t>Es el uso del sistema de signos lingüísticos. Además, es concreta y psicofísica.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2686222-C554-2C20-C677-852620C31880}"/>
              </a:ext>
            </a:extLst>
          </p:cNvPr>
          <p:cNvSpPr/>
          <p:nvPr/>
        </p:nvSpPr>
        <p:spPr>
          <a:xfrm>
            <a:off x="3070738" y="2265671"/>
            <a:ext cx="5310303" cy="4173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000" b="1" noProof="0" dirty="0">
                <a:solidFill>
                  <a:srgbClr val="7030A0"/>
                </a:solidFill>
                <a:latin typeface="Arial"/>
                <a:cs typeface="Arial"/>
              </a:rPr>
              <a:t>PLANOS DEL LENGUAJE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85682B5-3E0C-9188-29F8-CFDCCB0F938B}"/>
              </a:ext>
            </a:extLst>
          </p:cNvPr>
          <p:cNvCxnSpPr>
            <a:cxnSpLocks/>
          </p:cNvCxnSpPr>
          <p:nvPr/>
        </p:nvCxnSpPr>
        <p:spPr>
          <a:xfrm flipH="1">
            <a:off x="2896832" y="2701942"/>
            <a:ext cx="2072873" cy="675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AECD1BC-CF2B-F8E5-994B-BDF6C8CEC130}"/>
              </a:ext>
            </a:extLst>
          </p:cNvPr>
          <p:cNvCxnSpPr>
            <a:cxnSpLocks/>
          </p:cNvCxnSpPr>
          <p:nvPr/>
        </p:nvCxnSpPr>
        <p:spPr>
          <a:xfrm>
            <a:off x="6818555" y="2682980"/>
            <a:ext cx="2208981" cy="727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CA0E13E4-2532-5FCA-8AB6-5D6C93F74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54216" y="3692031"/>
            <a:ext cx="1142566" cy="114256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3337139-B326-476E-8D8E-73626736D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27536" y="452041"/>
            <a:ext cx="2809275" cy="19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5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A67B-FE6E-7A9C-1370-C1486E24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4B0C2CB9-FF49-3C28-A7D2-867C0493B19F}"/>
                  </a:ext>
                </a:extLst>
              </p14:cNvPr>
              <p14:cNvContentPartPr/>
              <p14:nvPr/>
            </p14:nvContentPartPr>
            <p14:xfrm>
              <a:off x="-348497" y="1512943"/>
              <a:ext cx="360" cy="3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4B0C2CB9-FF49-3C28-A7D2-867C0493B1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84492" y="1476942"/>
                <a:ext cx="71995" cy="7199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5E47B80-C65C-971E-CE93-17A15EBC02BD}"/>
              </a:ext>
            </a:extLst>
          </p:cNvPr>
          <p:cNvSpPr/>
          <p:nvPr/>
        </p:nvSpPr>
        <p:spPr>
          <a:xfrm>
            <a:off x="704673" y="175231"/>
            <a:ext cx="10782653" cy="962201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36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VARIACIÓN DIASTRÁTICA DE LA LENGUA</a:t>
            </a:r>
          </a:p>
          <a:p>
            <a:pPr algn="ctr"/>
            <a:r>
              <a:rPr lang="es-PE" sz="28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(Sociolecto)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48763E-BAE7-8BA6-0B37-278623762F89}"/>
              </a:ext>
            </a:extLst>
          </p:cNvPr>
          <p:cNvSpPr txBox="1"/>
          <p:nvPr/>
        </p:nvSpPr>
        <p:spPr>
          <a:xfrm>
            <a:off x="1077270" y="1214661"/>
            <a:ext cx="1003745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noProof="0" dirty="0">
                <a:latin typeface="Arial"/>
                <a:cs typeface="Arial"/>
              </a:rPr>
              <a:t>La lengua varía por motivos socioeconómicos. Se observan tres niveles: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0907D20-FF7F-C849-DA61-3FC9B01FA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371589"/>
              </p:ext>
            </p:extLst>
          </p:nvPr>
        </p:nvGraphicFramePr>
        <p:xfrm>
          <a:off x="467668" y="1714529"/>
          <a:ext cx="11405891" cy="49682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90543">
                  <a:extLst>
                    <a:ext uri="{9D8B030D-6E8A-4147-A177-3AD203B41FA5}">
                      <a16:colId xmlns:a16="http://schemas.microsoft.com/office/drawing/2014/main" val="3403118459"/>
                    </a:ext>
                  </a:extLst>
                </a:gridCol>
                <a:gridCol w="3710563">
                  <a:extLst>
                    <a:ext uri="{9D8B030D-6E8A-4147-A177-3AD203B41FA5}">
                      <a16:colId xmlns:a16="http://schemas.microsoft.com/office/drawing/2014/main" val="3487595172"/>
                    </a:ext>
                  </a:extLst>
                </a:gridCol>
                <a:gridCol w="3704785">
                  <a:extLst>
                    <a:ext uri="{9D8B030D-6E8A-4147-A177-3AD203B41FA5}">
                      <a16:colId xmlns:a16="http://schemas.microsoft.com/office/drawing/2014/main" val="2566006573"/>
                    </a:ext>
                  </a:extLst>
                </a:gridCol>
              </a:tblGrid>
              <a:tr h="367782">
                <a:tc>
                  <a:txBody>
                    <a:bodyPr/>
                    <a:lstStyle/>
                    <a:p>
                      <a:pPr algn="ctr"/>
                      <a:r>
                        <a:rPr lang="es-PE" sz="2000" b="1" noProof="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kern="1200" noProof="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kern="1200" noProof="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SUBESTÁNDAR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461789"/>
                  </a:ext>
                </a:extLst>
              </a:tr>
              <a:tr h="2035736"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Lengua literaria: </a:t>
                      </a:r>
                      <a:r>
                        <a:rPr lang="es-PE" sz="18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tilizado en la escritura literaria. Ejemplo: </a:t>
                      </a:r>
                    </a:p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endParaRPr lang="es-PE" sz="1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s-P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 el pasadizo nebuloso cual mágico sueño de Estambul, su perfil presenta </a:t>
                      </a:r>
                      <a:r>
                        <a:rPr kumimoji="0" lang="es-PE" sz="1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destelloso</a:t>
                      </a:r>
                      <a:r>
                        <a:rPr kumimoji="0" lang="es-P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 niña de la lámpara azul.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culta: </a:t>
                      </a:r>
                      <a:r>
                        <a:rPr lang="es-PE" sz="18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 la lengua formal empleada en exposiciones, noticieros, ponencias, etc. Ejemplo: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endParaRPr lang="es-PE" sz="18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s-PE" sz="1800" i="1" kern="1200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Junta de Fiscales Supremos convocó a Patricia Benavides a una sesión.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Lengua popular: </a:t>
                      </a:r>
                      <a:r>
                        <a:rPr lang="es-PE" sz="18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 aquella que</a:t>
                      </a:r>
                      <a:r>
                        <a:rPr lang="es-PE" sz="1800" b="1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presenta vicios del lenguaje. Ejemplo: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80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s-PE" sz="1800" i="1" kern="1200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Nadies me dijo que subiera arriba al treceavo piso.</a:t>
                      </a:r>
                    </a:p>
                    <a:p>
                      <a:pPr algn="just"/>
                      <a:endParaRPr lang="es-PE" sz="18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37870"/>
                  </a:ext>
                </a:extLst>
              </a:tr>
              <a:tr h="2136620"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 con léxico especializado: </a:t>
                      </a:r>
                      <a:r>
                        <a:rPr lang="es-PE" sz="18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ontiene un vocabulario científico-técnico, que se utiliza en las ciencias. Ejemplo:</a:t>
                      </a:r>
                      <a:endParaRPr lang="es-PE" sz="18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s-PE" sz="1800" i="1" noProof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sinapsis es un proceso fundamental para el funcionamiento del sistema nervioso.</a:t>
                      </a:r>
                      <a:endParaRPr lang="es-PE" sz="1800" b="1" i="1" noProof="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Lengua coloquial: </a:t>
                      </a:r>
                      <a:r>
                        <a:rPr lang="es-PE" sz="1800" b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 la lengua empleada en los ámbitos familiar y amical. Ejemplo: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s-PE" sz="180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s-PE" sz="1800" i="1" kern="1200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Ayer vi en la tele el campeonato de vóley con mis amigas del cole.  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s-PE" sz="1800" b="1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Lengua vulgar:</a:t>
                      </a:r>
                      <a:r>
                        <a:rPr lang="es-PE" sz="1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es aquella que presenta palabras groseras y malsonantes. Ejemplo: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80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s-PE" sz="1800" i="1" kern="1200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Estaba </a:t>
                      </a:r>
                      <a:r>
                        <a:rPr lang="es-PE" sz="1800" i="1" kern="1200" noProof="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chihuán</a:t>
                      </a:r>
                      <a:r>
                        <a:rPr lang="es-PE" sz="1800" i="1" kern="1200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pero se tiró una bomba brava.</a:t>
                      </a:r>
                    </a:p>
                    <a:p>
                      <a:pPr algn="just"/>
                      <a:endParaRPr lang="es-PE" sz="18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647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14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BB48-FF28-0F1D-5497-3B4E3AEC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F150EDA-128F-E6F9-1427-A19EEE128127}"/>
              </a:ext>
            </a:extLst>
          </p:cNvPr>
          <p:cNvSpPr txBox="1"/>
          <p:nvPr/>
        </p:nvSpPr>
        <p:spPr>
          <a:xfrm>
            <a:off x="137754" y="1152221"/>
            <a:ext cx="6263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a. Función representativa o referencial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33C8DD-10B6-25F0-67BD-A2E6585F5DAA}"/>
              </a:ext>
            </a:extLst>
          </p:cNvPr>
          <p:cNvSpPr txBox="1"/>
          <p:nvPr/>
        </p:nvSpPr>
        <p:spPr>
          <a:xfrm>
            <a:off x="613311" y="3536645"/>
            <a:ext cx="5647142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La serotonina es un neurotransmisor que estimula el buen estados de ánimo.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1D1AC1-9491-0134-060A-BA400BE24BB4}"/>
              </a:ext>
            </a:extLst>
          </p:cNvPr>
          <p:cNvSpPr txBox="1"/>
          <p:nvPr/>
        </p:nvSpPr>
        <p:spPr>
          <a:xfrm>
            <a:off x="613311" y="5852458"/>
            <a:ext cx="5647142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Aquel alumno quedó en primer puesto en el examen de la UNI. </a:t>
            </a:r>
            <a:r>
              <a:rPr lang="es-PE" b="0" noProof="0" dirty="0"/>
              <a:t>	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A59DE7-6687-1405-6DEA-8F6D356C3BB8}"/>
              </a:ext>
            </a:extLst>
          </p:cNvPr>
          <p:cNvSpPr txBox="1"/>
          <p:nvPr/>
        </p:nvSpPr>
        <p:spPr>
          <a:xfrm>
            <a:off x="6401008" y="1152221"/>
            <a:ext cx="5081885" cy="101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es-PE" sz="3000" noProof="0" dirty="0">
                <a:latin typeface="Arial"/>
                <a:cs typeface="Arial"/>
              </a:rPr>
              <a:t>b. Función apelativa o conativa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C619D20-5879-2666-394D-1C8AD02FB084}"/>
              </a:ext>
            </a:extLst>
          </p:cNvPr>
          <p:cNvSpPr txBox="1"/>
          <p:nvPr/>
        </p:nvSpPr>
        <p:spPr>
          <a:xfrm>
            <a:off x="6546763" y="5852458"/>
            <a:ext cx="5319656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Prohibido fumar en lugares públicos como este.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3F0BD8-FCF8-4277-EAA8-F64F4A4CAC97}"/>
              </a:ext>
            </a:extLst>
          </p:cNvPr>
          <p:cNvSpPr txBox="1"/>
          <p:nvPr/>
        </p:nvSpPr>
        <p:spPr>
          <a:xfrm>
            <a:off x="6546763" y="3533642"/>
            <a:ext cx="5319656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¿Puedes prestarme tu lapicero, por favor?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DA1F9C1-95B6-EF83-971F-D6A430CA041C}"/>
              </a:ext>
            </a:extLst>
          </p:cNvPr>
          <p:cNvSpPr/>
          <p:nvPr/>
        </p:nvSpPr>
        <p:spPr>
          <a:xfrm>
            <a:off x="2025241" y="198866"/>
            <a:ext cx="8141517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FUNCIONES DEL LENGUAJE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8B6F1C-9A96-AD19-285F-2E08B811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054" y="2280842"/>
            <a:ext cx="2503656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9F4FE89-821B-04BA-2682-88432E2AF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669" y="4483603"/>
            <a:ext cx="2511041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2837504-700B-6591-8FEC-928FF9F8D6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498"/>
          <a:stretch>
            <a:fillRect/>
          </a:stretch>
        </p:blipFill>
        <p:spPr>
          <a:xfrm>
            <a:off x="7686429" y="2285398"/>
            <a:ext cx="2511041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B3A030B-A890-1185-12B6-75C74DEDD4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92" t="11561" r="192" b="6186"/>
          <a:stretch>
            <a:fillRect/>
          </a:stretch>
        </p:blipFill>
        <p:spPr>
          <a:xfrm>
            <a:off x="7655718" y="4483603"/>
            <a:ext cx="2511040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70804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 animBg="1"/>
      <p:bldP spid="5" grpId="0"/>
      <p:bldP spid="9" grpId="0" animBg="1"/>
      <p:bldP spid="10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1B68-F263-367D-303A-DB7A7062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EB3DE5-30C7-F3CC-5250-69E6F2ED5183}"/>
              </a:ext>
            </a:extLst>
          </p:cNvPr>
          <p:cNvSpPr txBox="1"/>
          <p:nvPr/>
        </p:nvSpPr>
        <p:spPr>
          <a:xfrm>
            <a:off x="267623" y="1259303"/>
            <a:ext cx="5917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c. Función expresiva o emotiva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7221E5-D800-2A7E-3C8D-C7AE82220860}"/>
              </a:ext>
            </a:extLst>
          </p:cNvPr>
          <p:cNvSpPr txBox="1"/>
          <p:nvPr/>
        </p:nvSpPr>
        <p:spPr>
          <a:xfrm>
            <a:off x="6308668" y="1259303"/>
            <a:ext cx="5615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4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s-PE" sz="3000" noProof="0" dirty="0"/>
              <a:t>d. Función poética o estética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F99564-C46A-9EA9-CD45-0C823A5CE988}"/>
              </a:ext>
            </a:extLst>
          </p:cNvPr>
          <p:cNvSpPr txBox="1"/>
          <p:nvPr/>
        </p:nvSpPr>
        <p:spPr>
          <a:xfrm>
            <a:off x="729874" y="3421329"/>
            <a:ext cx="4824975" cy="86177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¡Qué carismática es aquella docente!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6CE2DF-20D2-2E24-6221-46E901831C31}"/>
              </a:ext>
            </a:extLst>
          </p:cNvPr>
          <p:cNvSpPr txBox="1"/>
          <p:nvPr/>
        </p:nvSpPr>
        <p:spPr>
          <a:xfrm>
            <a:off x="729875" y="5820216"/>
            <a:ext cx="4824975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Me enterneció su buen parecer.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816D11-19D0-BE56-6A3B-7396E4CA5017}"/>
              </a:ext>
            </a:extLst>
          </p:cNvPr>
          <p:cNvSpPr txBox="1"/>
          <p:nvPr/>
        </p:nvSpPr>
        <p:spPr>
          <a:xfrm>
            <a:off x="6308667" y="3429000"/>
            <a:ext cx="5293937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“El Perú es el país de todas las sangres”.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2550E8-A2D0-4E98-531B-45D68B9DB4BF}"/>
              </a:ext>
            </a:extLst>
          </p:cNvPr>
          <p:cNvSpPr txBox="1"/>
          <p:nvPr/>
        </p:nvSpPr>
        <p:spPr>
          <a:xfrm>
            <a:off x="6308668" y="5820216"/>
            <a:ext cx="5293937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</a:rPr>
              <a:t>No por mucho madrugar amanece temprano.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039544D-75AD-C1C0-825F-2EBBF3840904}"/>
              </a:ext>
            </a:extLst>
          </p:cNvPr>
          <p:cNvSpPr/>
          <p:nvPr/>
        </p:nvSpPr>
        <p:spPr>
          <a:xfrm>
            <a:off x="2025242" y="287745"/>
            <a:ext cx="8141517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FUNCIONES DEL LENGUAJE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1BC196-4965-FFB5-FA3B-D96ECEB84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87" y="1938457"/>
            <a:ext cx="2509842" cy="1252202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E83AF4C-5393-7293-AB1F-276AF3BA5C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46" r="9304"/>
          <a:stretch>
            <a:fillRect/>
          </a:stretch>
        </p:blipFill>
        <p:spPr>
          <a:xfrm>
            <a:off x="1887440" y="4425556"/>
            <a:ext cx="2509842" cy="1252202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B77FC0D-C030-E28D-0092-1B7C0504C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123" y="1938457"/>
            <a:ext cx="2511636" cy="1252201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D889868-B4B7-1706-4086-5A5FA10FC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123" y="4425556"/>
            <a:ext cx="2509838" cy="1252202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91125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1" grpId="0" animBg="1"/>
      <p:bldP spid="12" grpId="0" animBg="1"/>
      <p:bldP spid="15" grpId="0" animBg="1"/>
      <p:bldP spid="1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C9C3-1D0E-4D92-3FE9-5102228A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D201DF3-27CB-9399-C638-565BFB649B97}"/>
              </a:ext>
            </a:extLst>
          </p:cNvPr>
          <p:cNvSpPr txBox="1"/>
          <p:nvPr/>
        </p:nvSpPr>
        <p:spPr>
          <a:xfrm>
            <a:off x="78595" y="1169362"/>
            <a:ext cx="4782489" cy="101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000" b="1" noProof="0" dirty="0">
                <a:solidFill>
                  <a:srgbClr val="0070C0"/>
                </a:solidFill>
                <a:latin typeface="Arial"/>
                <a:cs typeface="Arial"/>
              </a:rPr>
              <a:t>e. Función fática o contacto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A1A113-93A2-99DD-CC19-3C43ABCAD9EC}"/>
              </a:ext>
            </a:extLst>
          </p:cNvPr>
          <p:cNvSpPr txBox="1"/>
          <p:nvPr/>
        </p:nvSpPr>
        <p:spPr>
          <a:xfrm>
            <a:off x="6096004" y="1224475"/>
            <a:ext cx="5225136" cy="101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500"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es-PE" sz="3000" noProof="0" dirty="0">
                <a:latin typeface="Arial"/>
                <a:cs typeface="Arial"/>
              </a:rPr>
              <a:t>f. Función metalingüística o de glosa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2FE023-733C-AC3B-2420-7F9AC797D43D}"/>
              </a:ext>
            </a:extLst>
          </p:cNvPr>
          <p:cNvSpPr txBox="1"/>
          <p:nvPr/>
        </p:nvSpPr>
        <p:spPr>
          <a:xfrm>
            <a:off x="287835" y="5990724"/>
            <a:ext cx="4364008" cy="461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¡Buenos días, amigos!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F9466C-6097-782D-864B-0BC16568EE20}"/>
              </a:ext>
            </a:extLst>
          </p:cNvPr>
          <p:cNvSpPr txBox="1"/>
          <p:nvPr/>
        </p:nvSpPr>
        <p:spPr>
          <a:xfrm>
            <a:off x="6149704" y="3727844"/>
            <a:ext cx="5344892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ctr">
              <a:tabLst>
                <a:tab pos="90170" algn="l"/>
              </a:tabLst>
              <a:defRPr sz="2400" b="1"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pPr algn="just"/>
            <a:r>
              <a:rPr lang="es-PE" b="0" i="1" noProof="0" dirty="0">
                <a:solidFill>
                  <a:srgbClr val="0070C0"/>
                </a:solidFill>
                <a:latin typeface="Arial"/>
              </a:rPr>
              <a:t>La semántica es una rama de la lingüística.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5E8FCBF-6894-1EB0-5C17-CAA771919600}"/>
              </a:ext>
            </a:extLst>
          </p:cNvPr>
          <p:cNvSpPr txBox="1"/>
          <p:nvPr/>
        </p:nvSpPr>
        <p:spPr>
          <a:xfrm>
            <a:off x="6149704" y="5990724"/>
            <a:ext cx="5344892" cy="8309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 lvl="0" algn="just">
              <a:tabLst>
                <a:tab pos="90170" algn="l"/>
              </a:tabLst>
              <a:defRPr sz="2400" b="1"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r>
              <a:rPr lang="es-PE" b="0" i="1" noProof="0" dirty="0">
                <a:solidFill>
                  <a:srgbClr val="0070C0"/>
                </a:solidFill>
                <a:latin typeface="Arial"/>
              </a:rPr>
              <a:t>La palabra “amigovio” es una jerga argentina. 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FA9BB1-3C34-36E3-C9F6-36DE213BD00B}"/>
              </a:ext>
            </a:extLst>
          </p:cNvPr>
          <p:cNvSpPr/>
          <p:nvPr/>
        </p:nvSpPr>
        <p:spPr>
          <a:xfrm>
            <a:off x="2025242" y="196305"/>
            <a:ext cx="8141517" cy="8640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FUNCIONES DEL LENGUAJE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4F1A393-92F7-1436-ABDB-B0C719BECFBC}"/>
              </a:ext>
            </a:extLst>
          </p:cNvPr>
          <p:cNvSpPr txBox="1"/>
          <p:nvPr/>
        </p:nvSpPr>
        <p:spPr>
          <a:xfrm>
            <a:off x="837121" y="3727844"/>
            <a:ext cx="3265436" cy="4616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algn="just"/>
            <a:r>
              <a:rPr lang="es-PE" sz="2400" i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¿Me oyen, alumnos?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D9F814-D664-06AB-AAFD-C37251AA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0"/>
          <a:stretch>
            <a:fillRect/>
          </a:stretch>
        </p:blipFill>
        <p:spPr>
          <a:xfrm>
            <a:off x="1451965" y="2330037"/>
            <a:ext cx="2528961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1EC8C8D-1668-BD08-C06B-D0FE067E4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3" r="7692" b="22916"/>
          <a:stretch>
            <a:fillRect/>
          </a:stretch>
        </p:blipFill>
        <p:spPr>
          <a:xfrm>
            <a:off x="7503965" y="2330037"/>
            <a:ext cx="2528962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CEDA64F-5B8D-FDF9-EEF2-35FE091FC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965" y="4694099"/>
            <a:ext cx="2528961" cy="125280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352DEEF-C75B-DD1F-FD91-A1C3536DDA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54"/>
          <a:stretch>
            <a:fillRect/>
          </a:stretch>
        </p:blipFill>
        <p:spPr>
          <a:xfrm>
            <a:off x="1451964" y="4694098"/>
            <a:ext cx="2528961" cy="1252801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87326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 animBg="1"/>
      <p:bldP spid="18" grpId="0" animBg="1"/>
      <p:bldP spid="19" grpId="0" animBg="1"/>
      <p:bldP spid="4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8DCA387-662E-27B4-B38B-1FF95F6DE3D7}"/>
              </a:ext>
            </a:extLst>
          </p:cNvPr>
          <p:cNvSpPr/>
          <p:nvPr/>
        </p:nvSpPr>
        <p:spPr>
          <a:xfrm>
            <a:off x="1943821" y="287745"/>
            <a:ext cx="8304358" cy="783984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40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FUNCIONES DEL LENGUAJE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338361-A64D-C6E2-19FC-0FDDB0D554CE}"/>
              </a:ext>
            </a:extLst>
          </p:cNvPr>
          <p:cNvSpPr txBox="1"/>
          <p:nvPr/>
        </p:nvSpPr>
        <p:spPr>
          <a:xfrm>
            <a:off x="1154680" y="1390288"/>
            <a:ext cx="9882638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sz="2400" b="1" noProof="0" dirty="0">
                <a:solidFill>
                  <a:srgbClr val="000000"/>
                </a:solidFill>
                <a:latin typeface="Arial"/>
                <a:cs typeface="Arial"/>
              </a:rPr>
              <a:t>Las funciones </a:t>
            </a:r>
            <a:r>
              <a:rPr lang="es-PE" sz="2400" noProof="0" dirty="0">
                <a:solidFill>
                  <a:srgbClr val="000000"/>
                </a:solidFill>
                <a:latin typeface="Arial"/>
                <a:cs typeface="Arial"/>
              </a:rPr>
              <a:t>se relacionan con los </a:t>
            </a:r>
            <a:r>
              <a:rPr lang="es-PE" sz="2400" b="1" noProof="0" dirty="0">
                <a:solidFill>
                  <a:srgbClr val="000000"/>
                </a:solidFill>
                <a:latin typeface="Arial"/>
                <a:cs typeface="Arial"/>
              </a:rPr>
              <a:t>elementos de la comunicación.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9C73AB8-3E53-2A0A-EDB4-AB17BBBFE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323984"/>
              </p:ext>
            </p:extLst>
          </p:nvPr>
        </p:nvGraphicFramePr>
        <p:xfrm>
          <a:off x="2174426" y="2261840"/>
          <a:ext cx="5955981" cy="36034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3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893">
                <a:tc>
                  <a:txBody>
                    <a:bodyPr/>
                    <a:lstStyle/>
                    <a:p>
                      <a:pPr algn="ctr"/>
                      <a:r>
                        <a:rPr lang="es-PE" sz="2400" noProof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FUNCIÓN </a:t>
                      </a:r>
                    </a:p>
                    <a:p>
                      <a:pPr algn="ctr"/>
                      <a:r>
                        <a:rPr lang="es-PE" sz="2400" noProof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LENGUAJE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noProof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ELEMENTOS DE LA COMUNICACIÓN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Representativa</a:t>
                      </a:r>
                      <a:r>
                        <a:rPr lang="es-PE" sz="2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PE" sz="2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referente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Expresiva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emisor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Apelativa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receptor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Metalingüística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código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Fática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canal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418"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Poética</a:t>
                      </a:r>
                      <a:r>
                        <a:rPr lang="es-PE" sz="2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PE" sz="2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kern="1200" noProof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mensaje</a:t>
                      </a:r>
                      <a:r>
                        <a:rPr lang="es-PE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26" name="Picture 2" descr="Changing the way you learn | Mind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222" y="2913328"/>
            <a:ext cx="3013480" cy="295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14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C2249EE-378B-DBEB-2F21-E3F97CC6FD15}"/>
              </a:ext>
            </a:extLst>
          </p:cNvPr>
          <p:cNvSpPr/>
          <p:nvPr/>
        </p:nvSpPr>
        <p:spPr>
          <a:xfrm>
            <a:off x="1442503" y="354231"/>
            <a:ext cx="9306994" cy="864000"/>
          </a:xfrm>
          <a:prstGeom prst="round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3600" b="1" noProof="0" dirty="0">
                <a:latin typeface="Arial"/>
                <a:ea typeface="MS Mincho"/>
                <a:cs typeface="Arial"/>
              </a:rPr>
              <a:t>  </a:t>
            </a:r>
            <a:r>
              <a:rPr lang="es-PE" sz="3600" b="1" noProof="0" dirty="0">
                <a:solidFill>
                  <a:srgbClr val="FF0000"/>
                </a:solidFill>
                <a:latin typeface="Arial"/>
                <a:ea typeface="MS Mincho"/>
                <a:cs typeface="Arial"/>
              </a:rPr>
              <a:t>USOS DE LA LETRA MAYÚSCULA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581686-4206-D095-385A-0459268CBF2F}"/>
              </a:ext>
            </a:extLst>
          </p:cNvPr>
          <p:cNvSpPr txBox="1"/>
          <p:nvPr/>
        </p:nvSpPr>
        <p:spPr>
          <a:xfrm>
            <a:off x="797732" y="2224170"/>
            <a:ext cx="10634802" cy="1015668"/>
          </a:xfrm>
          <a:prstGeom prst="rect">
            <a:avLst/>
          </a:prstGeom>
          <a:solidFill>
            <a:srgbClr val="F2FBD7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a. Se usa después de los signos de cierre de interrogación (?) y de exclamación (!)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39039F-1A47-FC5F-A65B-0A349050B58B}"/>
              </a:ext>
            </a:extLst>
          </p:cNvPr>
          <p:cNvSpPr txBox="1"/>
          <p:nvPr/>
        </p:nvSpPr>
        <p:spPr>
          <a:xfrm>
            <a:off x="1535241" y="3415485"/>
            <a:ext cx="881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¿Qué escribió? ¿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lang="es-PE" sz="2400" noProof="0" dirty="0">
                <a:latin typeface="Arial"/>
                <a:cs typeface="Arial"/>
              </a:rPr>
              <a:t>or qué lo hizo?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¡Iremos al teatro, hijos! 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lang="es-PE" sz="2400" noProof="0" dirty="0">
                <a:latin typeface="Arial"/>
                <a:cs typeface="Arial"/>
              </a:rPr>
              <a:t>ompraré hoy día las entradas</a:t>
            </a:r>
            <a:r>
              <a:rPr lang="es-PE" i="1" noProof="0" dirty="0">
                <a:latin typeface="Arial"/>
                <a:cs typeface="Arial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8D32C2-652F-D4D5-8265-D2D4A96570AD}"/>
              </a:ext>
            </a:extLst>
          </p:cNvPr>
          <p:cNvSpPr txBox="1"/>
          <p:nvPr/>
        </p:nvSpPr>
        <p:spPr>
          <a:xfrm>
            <a:off x="1442503" y="5050018"/>
            <a:ext cx="8811983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noProof="0" dirty="0">
                <a:solidFill>
                  <a:srgbClr val="0070C0"/>
                </a:solidFill>
                <a:latin typeface="Arial"/>
                <a:cs typeface="Arial"/>
              </a:rPr>
              <a:t>Si se interpone otro signo, se escribirá con minúscula.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69ED6D-81FB-0EFC-A482-4A2EDB03F3CD}"/>
              </a:ext>
            </a:extLst>
          </p:cNvPr>
          <p:cNvSpPr txBox="1"/>
          <p:nvPr/>
        </p:nvSpPr>
        <p:spPr>
          <a:xfrm>
            <a:off x="1535241" y="5412686"/>
            <a:ext cx="83176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Estimado jefe, si llego otra vez tarde, ¿</a:t>
            </a:r>
            <a:r>
              <a:rPr lang="es-PE" sz="2400" b="1" noProof="0" dirty="0">
                <a:latin typeface="Arial"/>
                <a:cs typeface="Arial"/>
              </a:rPr>
              <a:t>me</a:t>
            </a:r>
            <a:r>
              <a:rPr lang="es-PE" sz="2400" noProof="0" dirty="0">
                <a:latin typeface="Arial"/>
                <a:cs typeface="Arial"/>
              </a:rPr>
              <a:t> descontarán?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¡Qué playa más hermosa!, ¡</a:t>
            </a:r>
            <a:r>
              <a:rPr lang="es-PE" sz="2400" b="1" noProof="0" dirty="0">
                <a:latin typeface="Arial"/>
                <a:cs typeface="Arial"/>
              </a:rPr>
              <a:t>qué</a:t>
            </a:r>
            <a:r>
              <a:rPr lang="es-PE" sz="2400" noProof="0" dirty="0">
                <a:latin typeface="Arial"/>
                <a:cs typeface="Arial"/>
              </a:rPr>
              <a:t> arena tan blanca!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08D2C2-D130-C14F-CA9C-DAB0A08427AE}"/>
              </a:ext>
            </a:extLst>
          </p:cNvPr>
          <p:cNvSpPr txBox="1"/>
          <p:nvPr/>
        </p:nvSpPr>
        <p:spPr>
          <a:xfrm>
            <a:off x="759465" y="1327861"/>
            <a:ext cx="10673069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PE" sz="3200" b="1" noProof="0" dirty="0">
                <a:solidFill>
                  <a:srgbClr val="FF0000"/>
                </a:solidFill>
              </a:rPr>
              <a:t>Uso de la mayúscula inicial exigida por la puntuación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184" y="3415485"/>
            <a:ext cx="1916145" cy="107491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341" y="5496334"/>
            <a:ext cx="1763988" cy="107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77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E93D85-53B1-FD74-78A0-059D31C1AD45}"/>
              </a:ext>
            </a:extLst>
          </p:cNvPr>
          <p:cNvSpPr txBox="1"/>
          <p:nvPr/>
        </p:nvSpPr>
        <p:spPr>
          <a:xfrm>
            <a:off x="821868" y="898016"/>
            <a:ext cx="10548263" cy="1108955"/>
          </a:xfrm>
          <a:prstGeom prst="rect">
            <a:avLst/>
          </a:prstGeom>
          <a:solidFill>
            <a:srgbClr val="F2FBD7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PE" sz="3000" b="1" noProof="0" dirty="0">
                <a:latin typeface="Arial"/>
                <a:cs typeface="Arial"/>
              </a:rPr>
              <a:t>b. Se usa después de los dos puntos solo al empezar una cita textual y ante fórmulas de saludo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5F2EC5-68A2-ECDB-E384-54E457B35A7A}"/>
              </a:ext>
            </a:extLst>
          </p:cNvPr>
          <p:cNvSpPr txBox="1"/>
          <p:nvPr/>
        </p:nvSpPr>
        <p:spPr>
          <a:xfrm>
            <a:off x="1562416" y="2378557"/>
            <a:ext cx="8392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Jesús dijo: “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lang="es-PE" sz="2400" noProof="0" dirty="0">
                <a:latin typeface="Arial"/>
                <a:cs typeface="Arial"/>
              </a:rPr>
              <a:t>o soy el camino, la verdad y la vida”.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Estimados docentes: / 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es-PE" sz="2400" noProof="0" dirty="0">
                <a:latin typeface="Arial"/>
                <a:cs typeface="Arial"/>
              </a:rPr>
              <a:t>es informo que el día de…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D8D51D-A96F-7212-1979-EC72DFB1AA78}"/>
              </a:ext>
            </a:extLst>
          </p:cNvPr>
          <p:cNvSpPr txBox="1"/>
          <p:nvPr/>
        </p:nvSpPr>
        <p:spPr>
          <a:xfrm>
            <a:off x="1562415" y="4256669"/>
            <a:ext cx="8392887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noProof="0" dirty="0">
                <a:solidFill>
                  <a:srgbClr val="0070C0"/>
                </a:solidFill>
                <a:latin typeface="Arial"/>
                <a:cs typeface="Arial"/>
              </a:rPr>
              <a:t>En caso contrario, se escribirá con minúscula.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D0B1CA-F20D-85F8-792F-6CE9381FB39B}"/>
              </a:ext>
            </a:extLst>
          </p:cNvPr>
          <p:cNvSpPr txBox="1"/>
          <p:nvPr/>
        </p:nvSpPr>
        <p:spPr>
          <a:xfrm>
            <a:off x="1593968" y="4718333"/>
            <a:ext cx="9042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Se quedó sin trabajo: </a:t>
            </a:r>
            <a:r>
              <a:rPr lang="es-PE" sz="2400" b="1" noProof="0" dirty="0">
                <a:latin typeface="Arial"/>
                <a:cs typeface="Arial"/>
              </a:rPr>
              <a:t>no</a:t>
            </a:r>
            <a:r>
              <a:rPr lang="es-PE" sz="2400" noProof="0" dirty="0">
                <a:latin typeface="Arial"/>
                <a:cs typeface="Arial"/>
              </a:rPr>
              <a:t> podrá viajar a Puerto Rico.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Así son mis amigos: </a:t>
            </a:r>
            <a:r>
              <a:rPr lang="es-PE" sz="2400" b="1" noProof="0" dirty="0">
                <a:latin typeface="Arial"/>
                <a:cs typeface="Arial"/>
              </a:rPr>
              <a:t>sensibles</a:t>
            </a:r>
            <a:r>
              <a:rPr lang="es-PE" sz="2400" noProof="0" dirty="0">
                <a:latin typeface="Arial"/>
                <a:cs typeface="Arial"/>
              </a:rPr>
              <a:t>, divertidos y solidarios.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942" y="2237761"/>
            <a:ext cx="1904189" cy="201890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942" y="4585399"/>
            <a:ext cx="1904189" cy="11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91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80CA-0698-899E-B9F8-C273C6AB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D90B11C-3A35-0C8E-A87F-53B2A801FC58}"/>
              </a:ext>
            </a:extLst>
          </p:cNvPr>
          <p:cNvSpPr txBox="1"/>
          <p:nvPr/>
        </p:nvSpPr>
        <p:spPr>
          <a:xfrm>
            <a:off x="764719" y="1020942"/>
            <a:ext cx="10662563" cy="1015668"/>
          </a:xfrm>
          <a:prstGeom prst="rect">
            <a:avLst/>
          </a:prstGeom>
          <a:solidFill>
            <a:srgbClr val="F2FBD7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c. Se usa después de los puntos suspensivos cuando finaliza una oración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D4FD0F-35C7-6AE1-0DE1-F44C76208140}"/>
              </a:ext>
            </a:extLst>
          </p:cNvPr>
          <p:cNvSpPr txBox="1"/>
          <p:nvPr/>
        </p:nvSpPr>
        <p:spPr>
          <a:xfrm>
            <a:off x="1001785" y="2209283"/>
            <a:ext cx="10537366" cy="1938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/>
              <a:buChar char="ü"/>
            </a:pPr>
            <a:r>
              <a:rPr lang="es-PE" sz="2400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Observa este triángulo, ese pentágono, aquel hexágono, este… 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ea typeface="+mn-ea"/>
                <a:cs typeface="Arial"/>
              </a:rPr>
              <a:t>S</a:t>
            </a:r>
            <a:r>
              <a:rPr lang="es-PE" sz="2400" noProof="0" dirty="0">
                <a:latin typeface="Arial"/>
                <a:ea typeface="+mn-ea"/>
                <a:cs typeface="Arial"/>
              </a:rPr>
              <a:t>í</a:t>
            </a:r>
            <a:r>
              <a:rPr lang="es-PE" sz="2400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,</a:t>
            </a:r>
            <a:r>
              <a:rPr lang="es-PE" sz="2400" b="1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s-PE" sz="2400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ya acabé.</a:t>
            </a:r>
          </a:p>
          <a:p>
            <a:pPr algn="just"/>
            <a:endParaRPr lang="es-PE" sz="2400" noProof="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85750" indent="-285750" algn="just">
              <a:buFont typeface="Wingdings"/>
              <a:buChar char="ü"/>
            </a:pPr>
            <a:r>
              <a:rPr lang="es-PE" sz="2400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La sangre es necesaria para mantenernos vivos porque… </a:t>
            </a:r>
            <a:r>
              <a:rPr lang="es-PE" sz="2400" b="1" noProof="0" dirty="0">
                <a:solidFill>
                  <a:srgbClr val="FF0000"/>
                </a:solidFill>
                <a:latin typeface="Arial"/>
                <a:ea typeface="+mn-ea"/>
                <a:cs typeface="Arial"/>
              </a:rPr>
              <a:t>M</a:t>
            </a:r>
            <a:r>
              <a:rPr lang="es-PE" sz="2400" noProof="0" dirty="0">
                <a:latin typeface="Arial"/>
                <a:ea typeface="+mn-ea"/>
                <a:cs typeface="Arial"/>
              </a:rPr>
              <a:t>añana</a:t>
            </a:r>
            <a:r>
              <a:rPr lang="es-PE" sz="2400" noProof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te explico.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05E680-A841-08B8-B91C-B45F63EB9D24}"/>
              </a:ext>
            </a:extLst>
          </p:cNvPr>
          <p:cNvSpPr txBox="1"/>
          <p:nvPr/>
        </p:nvSpPr>
        <p:spPr>
          <a:xfrm>
            <a:off x="1001785" y="4782616"/>
            <a:ext cx="10662563" cy="46166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s-PE" sz="2400" b="1" noProof="0" dirty="0">
                <a:solidFill>
                  <a:srgbClr val="0070C0"/>
                </a:solidFill>
                <a:latin typeface="Arial"/>
                <a:ea typeface="+mn-ea"/>
                <a:cs typeface="Arial"/>
              </a:rPr>
              <a:t>En caso contrario, la palabra que sigue se escribirá con minúscula.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940BC5-21E6-AEDD-9AFD-907F25FF97C6}"/>
              </a:ext>
            </a:extLst>
          </p:cNvPr>
          <p:cNvSpPr txBox="1"/>
          <p:nvPr/>
        </p:nvSpPr>
        <p:spPr>
          <a:xfrm>
            <a:off x="1001785" y="5244280"/>
            <a:ext cx="10537366" cy="83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Antonio está seguro de que… </a:t>
            </a:r>
            <a:r>
              <a:rPr lang="es-PE" sz="2400" b="1" noProof="0" dirty="0">
                <a:latin typeface="Arial"/>
                <a:cs typeface="Arial"/>
              </a:rPr>
              <a:t>ingresarás</a:t>
            </a:r>
            <a:r>
              <a:rPr lang="es-PE" sz="2400" noProof="0" dirty="0">
                <a:latin typeface="Arial"/>
                <a:cs typeface="Arial"/>
              </a:rPr>
              <a:t> en el primer puesto de tu especialidad.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567899" y="3706976"/>
            <a:ext cx="2033283" cy="107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9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4A1E-2842-F802-A7C4-18D8DA83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1266E2E-F345-F4E9-FDE9-F32F38420E57}"/>
              </a:ext>
            </a:extLst>
          </p:cNvPr>
          <p:cNvSpPr txBox="1"/>
          <p:nvPr/>
        </p:nvSpPr>
        <p:spPr>
          <a:xfrm>
            <a:off x="365890" y="1573231"/>
            <a:ext cx="11460221" cy="1015668"/>
          </a:xfrm>
          <a:prstGeom prst="rect">
            <a:avLst/>
          </a:prstGeom>
          <a:solidFill>
            <a:srgbClr val="F2FBD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a. Nombres propios de personas, objetos, animales y personajes animados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506F2D-01A2-EA7F-D337-4DDC310E1044}"/>
              </a:ext>
            </a:extLst>
          </p:cNvPr>
          <p:cNvSpPr txBox="1"/>
          <p:nvPr/>
        </p:nvSpPr>
        <p:spPr>
          <a:xfrm>
            <a:off x="1436856" y="5646436"/>
            <a:ext cx="10083500" cy="1045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200" noProof="0" dirty="0">
                <a:latin typeface="Arial"/>
                <a:ea typeface="MS Mincho"/>
                <a:cs typeface="Arial"/>
              </a:rPr>
              <a:t>Ella se comporta como una </a:t>
            </a:r>
            <a:r>
              <a:rPr lang="es-PE" sz="2200" b="1" noProof="0" dirty="0">
                <a:latin typeface="Arial"/>
                <a:ea typeface="MS Mincho"/>
                <a:cs typeface="Arial"/>
              </a:rPr>
              <a:t>celestina</a:t>
            </a:r>
            <a:r>
              <a:rPr lang="es-PE" sz="2200" noProof="0" dirty="0">
                <a:latin typeface="Arial"/>
                <a:ea typeface="MS Mincho"/>
                <a:cs typeface="Arial"/>
              </a:rPr>
              <a:t>. (alcahueta)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ü"/>
            </a:pPr>
            <a:r>
              <a:rPr lang="es-PE" sz="2200" noProof="0" dirty="0">
                <a:latin typeface="Arial"/>
                <a:ea typeface="MS Mincho"/>
                <a:cs typeface="Arial"/>
              </a:rPr>
              <a:t>Mi amigo se comportó como un </a:t>
            </a:r>
            <a:r>
              <a:rPr lang="es-PE" sz="2200" b="1" noProof="0" dirty="0">
                <a:latin typeface="Arial"/>
                <a:ea typeface="MS Mincho"/>
                <a:cs typeface="Arial"/>
              </a:rPr>
              <a:t>judas</a:t>
            </a:r>
            <a:r>
              <a:rPr lang="es-PE" sz="2200" noProof="0" dirty="0">
                <a:latin typeface="Arial"/>
                <a:ea typeface="MS Mincho"/>
                <a:cs typeface="Arial"/>
              </a:rPr>
              <a:t>. (traidor)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362F6A-9443-7329-B03E-D31BE71995EC}"/>
              </a:ext>
            </a:extLst>
          </p:cNvPr>
          <p:cNvSpPr txBox="1"/>
          <p:nvPr/>
        </p:nvSpPr>
        <p:spPr>
          <a:xfrm>
            <a:off x="671638" y="4947744"/>
            <a:ext cx="11195163" cy="76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PE" sz="2200" b="1" noProof="0" dirty="0">
                <a:solidFill>
                  <a:srgbClr val="0070C0"/>
                </a:solidFill>
                <a:latin typeface="Arial"/>
                <a:ea typeface="MS Mincho"/>
                <a:cs typeface="Arial"/>
              </a:rPr>
              <a:t>Cuando los nombres propios son usados para expresar una cualidad o característica, se escriben con minúscula.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283388-D619-F868-0EF7-13AC547B4A4E}"/>
              </a:ext>
            </a:extLst>
          </p:cNvPr>
          <p:cNvSpPr txBox="1"/>
          <p:nvPr/>
        </p:nvSpPr>
        <p:spPr>
          <a:xfrm>
            <a:off x="193122" y="497097"/>
            <a:ext cx="11805755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PE" sz="3200" b="1" noProof="0" dirty="0">
                <a:solidFill>
                  <a:srgbClr val="FF0000"/>
                </a:solidFill>
                <a:latin typeface="Arial"/>
                <a:cs typeface="Arial"/>
              </a:rPr>
              <a:t> Uso de la mayúscula inicial independiente de la puntuación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D30E67-3AB9-DD96-B015-01D50CF275E3}"/>
              </a:ext>
            </a:extLst>
          </p:cNvPr>
          <p:cNvSpPr txBox="1"/>
          <p:nvPr/>
        </p:nvSpPr>
        <p:spPr>
          <a:xfrm>
            <a:off x="1504950" y="2588899"/>
            <a:ext cx="891292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lang="es-PE" sz="2400" noProof="0" dirty="0">
                <a:latin typeface="Arial"/>
                <a:cs typeface="Arial"/>
              </a:rPr>
              <a:t>uis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 M</a:t>
            </a:r>
            <a:r>
              <a:rPr lang="es-PE" sz="2400" noProof="0" dirty="0">
                <a:latin typeface="Arial"/>
                <a:cs typeface="Arial"/>
              </a:rPr>
              <a:t>iguel</a:t>
            </a:r>
            <a:r>
              <a:rPr lang="es-PE" sz="2400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PE" sz="2400" noProof="0" dirty="0">
                <a:latin typeface="Arial"/>
                <a:cs typeface="Arial"/>
              </a:rPr>
              <a:t>visitará a su tía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lang="es-PE" sz="2400" noProof="0" dirty="0">
                <a:latin typeface="Arial"/>
                <a:cs typeface="Arial"/>
              </a:rPr>
              <a:t>lejandra la próxima semana.</a:t>
            </a: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La espada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lang="es-PE" sz="2400" noProof="0" dirty="0">
                <a:latin typeface="Arial"/>
                <a:cs typeface="Arial"/>
              </a:rPr>
              <a:t>xcalibur simboliza la legitimidad y la soberanía.</a:t>
            </a: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lang="es-PE" sz="2400" noProof="0" dirty="0">
                <a:latin typeface="Arial"/>
                <a:cs typeface="Arial"/>
              </a:rPr>
              <a:t>latero es un burro pequeño, peludo y suave.</a:t>
            </a: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lang="es-PE" sz="2400" noProof="0" dirty="0">
                <a:latin typeface="Arial"/>
                <a:cs typeface="Arial"/>
              </a:rPr>
              <a:t>afalda es el personaje central de una historieta argentina.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218" y="3287591"/>
            <a:ext cx="2139678" cy="14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90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40F6-2367-E858-3CCB-095D9336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1B081708-BF32-D489-95CB-8F8CE93F8F06}"/>
              </a:ext>
            </a:extLst>
          </p:cNvPr>
          <p:cNvSpPr txBox="1"/>
          <p:nvPr/>
        </p:nvSpPr>
        <p:spPr>
          <a:xfrm>
            <a:off x="382340" y="421969"/>
            <a:ext cx="11427321" cy="1477333"/>
          </a:xfrm>
          <a:prstGeom prst="rect">
            <a:avLst/>
          </a:prstGeom>
          <a:solidFill>
            <a:srgbClr val="F2FBD7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b. La preposición del apellido se escribe con mayúscula cuando no le antecede el nombre de la persona o su otro apellido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2037D1-4222-8CC2-F4F7-84F952A41D63}"/>
              </a:ext>
            </a:extLst>
          </p:cNvPr>
          <p:cNvSpPr txBox="1"/>
          <p:nvPr/>
        </p:nvSpPr>
        <p:spPr>
          <a:xfrm>
            <a:off x="1552956" y="1844329"/>
            <a:ext cx="9927566" cy="113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El docente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D</a:t>
            </a:r>
            <a:r>
              <a:rPr lang="es-PE" sz="2400" noProof="0" dirty="0">
                <a:latin typeface="Arial"/>
                <a:cs typeface="Arial"/>
              </a:rPr>
              <a:t>e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 León </a:t>
            </a:r>
            <a:r>
              <a:rPr lang="es-PE" sz="2400" noProof="0" dirty="0">
                <a:latin typeface="Arial"/>
                <a:cs typeface="Arial"/>
              </a:rPr>
              <a:t>estudiará un doctorado en el extranjero.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La ingeniera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D</a:t>
            </a:r>
            <a:r>
              <a:rPr lang="es-PE" sz="2400" noProof="0" dirty="0">
                <a:latin typeface="Arial"/>
                <a:cs typeface="Arial"/>
              </a:rPr>
              <a:t>el 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Valle </a:t>
            </a:r>
            <a:r>
              <a:rPr lang="es-PE" sz="2400" noProof="0" dirty="0">
                <a:latin typeface="Arial"/>
                <a:cs typeface="Arial"/>
              </a:rPr>
              <a:t>diseñará las maquetas del condominio.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77A8F3-7ADF-A41E-358D-6D2D5ECD3F2C}"/>
              </a:ext>
            </a:extLst>
          </p:cNvPr>
          <p:cNvSpPr txBox="1"/>
          <p:nvPr/>
        </p:nvSpPr>
        <p:spPr>
          <a:xfrm>
            <a:off x="1552956" y="3607497"/>
            <a:ext cx="9409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El juez Víctor </a:t>
            </a:r>
            <a:r>
              <a:rPr lang="es-PE" sz="2400" b="1" noProof="0" dirty="0">
                <a:latin typeface="Arial"/>
                <a:cs typeface="Arial"/>
              </a:rPr>
              <a:t>de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 Ortiz </a:t>
            </a:r>
            <a:r>
              <a:rPr lang="es-PE" sz="2400" noProof="0" dirty="0">
                <a:latin typeface="Arial"/>
                <a:cs typeface="Arial"/>
              </a:rPr>
              <a:t>dictará sentencia el próximo mes.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C5C4C7-F199-5B33-F644-386F0BBADFFE}"/>
              </a:ext>
            </a:extLst>
          </p:cNvPr>
          <p:cNvSpPr txBox="1"/>
          <p:nvPr/>
        </p:nvSpPr>
        <p:spPr>
          <a:xfrm>
            <a:off x="382340" y="4225556"/>
            <a:ext cx="11427321" cy="1015668"/>
          </a:xfrm>
          <a:prstGeom prst="rect">
            <a:avLst/>
          </a:prstGeom>
          <a:solidFill>
            <a:srgbClr val="F2FBD7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c. Los artículos (</a:t>
            </a:r>
            <a:r>
              <a:rPr lang="es-PE" sz="3000" b="1" i="1" noProof="0" dirty="0">
                <a:latin typeface="Arial"/>
                <a:cs typeface="Arial"/>
              </a:rPr>
              <a:t>los, las, la</a:t>
            </a:r>
            <a:r>
              <a:rPr lang="es-PE" sz="3000" b="1" noProof="0" dirty="0">
                <a:latin typeface="Arial"/>
                <a:cs typeface="Arial"/>
              </a:rPr>
              <a:t>) que encabezan los apellidos se escribe con mayúscula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A0B852-F288-CC89-7059-C91D0CC12946}"/>
              </a:ext>
            </a:extLst>
          </p:cNvPr>
          <p:cNvSpPr txBox="1"/>
          <p:nvPr/>
        </p:nvSpPr>
        <p:spPr>
          <a:xfrm>
            <a:off x="1552956" y="5302434"/>
            <a:ext cx="10608705" cy="11318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marL="342900" lvl="0" indent="-342900" algn="just">
              <a:buFont typeface="Symbol" panose="05050102010706020507" pitchFamily="18" charset="2"/>
              <a:buChar char=""/>
              <a:defRPr sz="2200" i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</a:rPr>
              <a:t>El economista Saúl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</a:rPr>
              <a:t>L</a:t>
            </a:r>
            <a:r>
              <a:rPr lang="es-PE" sz="2400" noProof="0" dirty="0">
                <a:latin typeface="Arial"/>
              </a:rPr>
              <a:t>os Heros apoyará en esta nueva gestión.</a:t>
            </a:r>
          </a:p>
          <a:p>
            <a:pPr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</a:rPr>
              <a:t>Gabriela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</a:rPr>
              <a:t>L</a:t>
            </a:r>
            <a:r>
              <a:rPr lang="es-PE" sz="2400" noProof="0" dirty="0">
                <a:latin typeface="Arial"/>
              </a:rPr>
              <a:t>as Casas fue contratada por la municipalidad.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61977B-ECB5-72A8-51E5-69369B60DDF9}"/>
              </a:ext>
            </a:extLst>
          </p:cNvPr>
          <p:cNvSpPr txBox="1"/>
          <p:nvPr/>
        </p:nvSpPr>
        <p:spPr>
          <a:xfrm>
            <a:off x="1523499" y="3061006"/>
            <a:ext cx="9145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 caso contrario, la preposición se escribe con minúscula.</a:t>
            </a:r>
          </a:p>
        </p:txBody>
      </p:sp>
    </p:spTree>
    <p:extLst>
      <p:ext uri="{BB962C8B-B14F-4D97-AF65-F5344CB8AC3E}">
        <p14:creationId xmlns:p14="http://schemas.microsoft.com/office/powerpoint/2010/main" val="268312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E0F21DC7-E9E2-869B-2614-70A9B4504592}"/>
              </a:ext>
            </a:extLst>
          </p:cNvPr>
          <p:cNvSpPr txBox="1"/>
          <p:nvPr/>
        </p:nvSpPr>
        <p:spPr>
          <a:xfrm>
            <a:off x="547426" y="3248527"/>
            <a:ext cx="11097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i="1" noProof="0" dirty="0">
                <a:latin typeface="Arial"/>
                <a:cs typeface="Arial"/>
              </a:rPr>
              <a:t>Rosa Paredes </a:t>
            </a:r>
            <a:r>
              <a:rPr lang="es-PE" sz="2400" b="1" i="1" noProof="0" dirty="0">
                <a:latin typeface="Arial"/>
                <a:cs typeface="Arial"/>
              </a:rPr>
              <a:t>de</a:t>
            </a:r>
            <a:r>
              <a:rPr lang="es-PE" sz="2400" i="1" noProof="0" dirty="0">
                <a:latin typeface="Arial"/>
                <a:cs typeface="Arial"/>
              </a:rPr>
              <a:t> </a:t>
            </a:r>
            <a:r>
              <a:rPr lang="es-PE" sz="2400" b="1" i="1" u="sng" noProof="0" dirty="0" err="1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lang="es-PE" sz="2400" i="1" u="sng" noProof="0" dirty="0" err="1">
                <a:latin typeface="Arial"/>
                <a:cs typeface="Arial"/>
              </a:rPr>
              <a:t>e</a:t>
            </a:r>
            <a:r>
              <a:rPr lang="es-PE" sz="2400" i="1" u="sng" noProof="0" dirty="0">
                <a:latin typeface="Arial"/>
                <a:cs typeface="Arial"/>
              </a:rPr>
              <a:t> la Cruz</a:t>
            </a:r>
            <a:r>
              <a:rPr lang="es-PE" sz="2400" i="1" noProof="0" dirty="0">
                <a:latin typeface="Arial"/>
                <a:cs typeface="Arial"/>
              </a:rPr>
              <a:t> trabaja en Ica.	     </a:t>
            </a:r>
            <a:r>
              <a:rPr lang="es-PE" sz="2400" noProof="0" dirty="0">
                <a:latin typeface="Arial"/>
                <a:cs typeface="Arial"/>
              </a:rPr>
              <a:t>(Esposa del señor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lang="es-PE" sz="2400" noProof="0" dirty="0">
                <a:latin typeface="Arial"/>
                <a:cs typeface="Arial"/>
              </a:rPr>
              <a:t>e la Cruz)</a:t>
            </a:r>
          </a:p>
          <a:p>
            <a:pPr marL="285750" indent="-285750">
              <a:lnSpc>
                <a:spcPct val="150000"/>
              </a:lnSpc>
              <a:buFont typeface="Wingdings"/>
              <a:buChar char="ü"/>
            </a:pPr>
            <a:r>
              <a:rPr lang="es-PE" sz="2400" i="1" noProof="0" dirty="0">
                <a:latin typeface="Arial"/>
                <a:cs typeface="Arial"/>
              </a:rPr>
              <a:t>Carmen Peña </a:t>
            </a:r>
            <a:r>
              <a:rPr lang="es-PE" sz="2400" b="1" i="1" noProof="0" dirty="0">
                <a:latin typeface="Arial"/>
                <a:cs typeface="Arial"/>
              </a:rPr>
              <a:t>de</a:t>
            </a:r>
            <a:r>
              <a:rPr lang="es-PE" sz="2400" i="1" noProof="0" dirty="0">
                <a:latin typeface="Arial"/>
                <a:cs typeface="Arial"/>
              </a:rPr>
              <a:t> </a:t>
            </a:r>
            <a:r>
              <a:rPr lang="es-PE" sz="2400" b="1" i="1" u="sng" noProof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lang="es-PE" sz="2400" i="1" u="sng" noProof="0" dirty="0">
                <a:latin typeface="Arial"/>
                <a:cs typeface="Arial"/>
              </a:rPr>
              <a:t>astro</a:t>
            </a:r>
            <a:r>
              <a:rPr lang="es-PE" sz="2400" i="1" noProof="0" dirty="0">
                <a:latin typeface="Arial"/>
                <a:cs typeface="Arial"/>
              </a:rPr>
              <a:t> vive en Pueblo Libre.    </a:t>
            </a:r>
            <a:r>
              <a:rPr lang="es-PE" sz="2400" noProof="0" dirty="0">
                <a:latin typeface="Arial"/>
                <a:cs typeface="Arial"/>
              </a:rPr>
              <a:t>(Esposa del señor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lang="es-PE" sz="2400" noProof="0" dirty="0">
                <a:latin typeface="Arial"/>
                <a:cs typeface="Arial"/>
              </a:rPr>
              <a:t>astro)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77ADD9-30E3-4A32-50E5-623427031894}"/>
              </a:ext>
            </a:extLst>
          </p:cNvPr>
          <p:cNvSpPr txBox="1"/>
          <p:nvPr/>
        </p:nvSpPr>
        <p:spPr>
          <a:xfrm>
            <a:off x="547427" y="818999"/>
            <a:ext cx="11097145" cy="1938997"/>
          </a:xfrm>
          <a:prstGeom prst="rect">
            <a:avLst/>
          </a:prstGeom>
          <a:solidFill>
            <a:srgbClr val="F2FBD7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PE" sz="3000" b="1" noProof="0" dirty="0">
                <a:latin typeface="Arial"/>
                <a:ea typeface="MS Mincho"/>
                <a:cs typeface="Arial"/>
              </a:rPr>
              <a:t>d. Si se emplea la preposición “de” para introducir el apellido del esposo, esta irá con minúscula. Si el apellido del esposo comienza, a su vez, por preposición “de”, esta segunda se escribirá con mayúscula inicial.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223" y="4346439"/>
            <a:ext cx="2691046" cy="150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93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D32BA-7C13-87A0-816A-72251DCB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210D29-8774-10F6-6873-135A1095043B}"/>
              </a:ext>
            </a:extLst>
          </p:cNvPr>
          <p:cNvSpPr txBox="1"/>
          <p:nvPr/>
        </p:nvSpPr>
        <p:spPr>
          <a:xfrm>
            <a:off x="1415174" y="5029646"/>
            <a:ext cx="9458715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Karla lee los signos del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Z</a:t>
            </a:r>
            <a:r>
              <a:rPr lang="es-PE" sz="2400" noProof="0" dirty="0">
                <a:latin typeface="Arial"/>
                <a:cs typeface="Arial"/>
              </a:rPr>
              <a:t>odiaco en la sala.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El signo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L</a:t>
            </a:r>
            <a:r>
              <a:rPr lang="es-PE" sz="2400" noProof="0" dirty="0">
                <a:latin typeface="Arial"/>
                <a:cs typeface="Arial"/>
              </a:rPr>
              <a:t>eo está representado por el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lang="es-PE" sz="2400" noProof="0" dirty="0">
                <a:latin typeface="Arial"/>
                <a:cs typeface="Arial"/>
              </a:rPr>
              <a:t>eón.  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cs typeface="Arial"/>
              </a:rPr>
              <a:t>Mi compañero de trabajo es </a:t>
            </a:r>
            <a:r>
              <a:rPr lang="es-PE" sz="2400" b="1" noProof="0" dirty="0">
                <a:latin typeface="Arial"/>
                <a:cs typeface="Arial"/>
              </a:rPr>
              <a:t>capricornio</a:t>
            </a:r>
            <a:r>
              <a:rPr lang="es-PE" sz="2400" noProof="0" dirty="0">
                <a:latin typeface="Arial"/>
                <a:cs typeface="Arial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33C230-E310-D9ED-1BC9-503E923C94A3}"/>
              </a:ext>
            </a:extLst>
          </p:cNvPr>
          <p:cNvSpPr txBox="1"/>
          <p:nvPr/>
        </p:nvSpPr>
        <p:spPr>
          <a:xfrm>
            <a:off x="1415174" y="1404821"/>
            <a:ext cx="10284725" cy="16858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Carlos Augusto Salaverry, el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R</a:t>
            </a:r>
            <a:r>
              <a:rPr lang="es-PE" sz="2400" noProof="0" dirty="0">
                <a:latin typeface="Arial"/>
                <a:cs typeface="Arial"/>
              </a:rPr>
              <a:t>uiseñor 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del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C</a:t>
            </a:r>
            <a:r>
              <a:rPr lang="es-PE" sz="2400" noProof="0" dirty="0">
                <a:latin typeface="Arial"/>
                <a:cs typeface="Arial"/>
              </a:rPr>
              <a:t>hira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, fue un poeta peruano.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Hoy jugará Messi, la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P</a:t>
            </a:r>
            <a:r>
              <a:rPr lang="es-PE" sz="2400" noProof="0" dirty="0">
                <a:latin typeface="Arial"/>
                <a:cs typeface="Arial"/>
              </a:rPr>
              <a:t>ulga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, el mejor futbolista de todos los tiempos.</a:t>
            </a:r>
          </a:p>
          <a:p>
            <a:pPr marL="342900" indent="-342900" algn="just">
              <a:lnSpc>
                <a:spcPct val="150000"/>
              </a:lnSpc>
              <a:buFont typeface="Wingdings"/>
              <a:buChar char="ü"/>
            </a:pPr>
            <a:r>
              <a:rPr lang="es-PE" sz="2400" noProof="0" dirty="0">
                <a:latin typeface="Arial"/>
                <a:ea typeface="MS Mincho"/>
                <a:cs typeface="Arial"/>
              </a:rPr>
              <a:t>Visitaré Arequipa, la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C</a:t>
            </a:r>
            <a:r>
              <a:rPr lang="es-PE" sz="2400" noProof="0" dirty="0">
                <a:latin typeface="Arial"/>
                <a:cs typeface="Arial"/>
              </a:rPr>
              <a:t>iudad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 </a:t>
            </a:r>
            <a:r>
              <a:rPr lang="es-PE" sz="2400" b="1" noProof="0" dirty="0">
                <a:solidFill>
                  <a:srgbClr val="C00000"/>
                </a:solidFill>
                <a:latin typeface="Arial"/>
                <a:ea typeface="MS Mincho"/>
                <a:cs typeface="Arial"/>
              </a:rPr>
              <a:t>B</a:t>
            </a:r>
            <a:r>
              <a:rPr lang="es-PE" sz="2400" noProof="0" dirty="0">
                <a:latin typeface="Arial"/>
                <a:cs typeface="Arial"/>
              </a:rPr>
              <a:t>lanca</a:t>
            </a:r>
            <a:r>
              <a:rPr lang="es-PE" sz="2400" noProof="0" dirty="0">
                <a:latin typeface="Arial"/>
                <a:ea typeface="MS Mincho"/>
                <a:cs typeface="Arial"/>
              </a:rPr>
              <a:t>, en mis próximas vacaciones.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A7BBDA-920B-8A7B-F74C-E7157289018B}"/>
              </a:ext>
            </a:extLst>
          </p:cNvPr>
          <p:cNvSpPr txBox="1"/>
          <p:nvPr/>
        </p:nvSpPr>
        <p:spPr>
          <a:xfrm>
            <a:off x="409255" y="389153"/>
            <a:ext cx="11373491" cy="1015668"/>
          </a:xfrm>
          <a:prstGeom prst="rect">
            <a:avLst/>
          </a:prstGeom>
          <a:solidFill>
            <a:srgbClr val="F2FBD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e. Los sustantivos y adjetivos de los sobrenombres, apodos, seudónimos y denominaciones alternativas de lugar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DF9C26-217E-8510-C0EC-D5AD36325272}"/>
              </a:ext>
            </a:extLst>
          </p:cNvPr>
          <p:cNvSpPr txBox="1"/>
          <p:nvPr/>
        </p:nvSpPr>
        <p:spPr>
          <a:xfrm>
            <a:off x="409255" y="3090662"/>
            <a:ext cx="11373491" cy="1938997"/>
          </a:xfrm>
          <a:prstGeom prst="rect">
            <a:avLst/>
          </a:prstGeom>
          <a:solidFill>
            <a:srgbClr val="F2FBD7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PE" sz="3000" b="1" noProof="0" dirty="0">
                <a:latin typeface="Arial"/>
                <a:cs typeface="Arial"/>
              </a:rPr>
              <a:t>f. Los nombres de los signos del Zodiaco y sus símbolos, excepto si aluden a las personas nacidas bajo dicho signo. El sustantivo </a:t>
            </a:r>
            <a:r>
              <a:rPr lang="es-PE" sz="3000" b="1" i="1" noProof="0" dirty="0">
                <a:latin typeface="Arial"/>
                <a:cs typeface="Arial"/>
              </a:rPr>
              <a:t>Zodiaco</a:t>
            </a:r>
            <a:r>
              <a:rPr lang="es-PE" sz="3000" b="1" noProof="0" dirty="0">
                <a:latin typeface="Arial"/>
                <a:cs typeface="Arial"/>
              </a:rPr>
              <a:t> va en mayúscula y los derivados como </a:t>
            </a:r>
            <a:r>
              <a:rPr lang="es-PE" sz="3000" b="1" i="1" noProof="0" dirty="0">
                <a:latin typeface="Arial"/>
                <a:cs typeface="Arial"/>
              </a:rPr>
              <a:t>zodiacal </a:t>
            </a:r>
            <a:r>
              <a:rPr lang="es-PE" sz="3000" b="1" noProof="0" dirty="0">
                <a:latin typeface="Arial"/>
                <a:cs typeface="Arial"/>
              </a:rPr>
              <a:t>o </a:t>
            </a:r>
            <a:r>
              <a:rPr lang="es-PE" sz="3000" b="1" i="1" noProof="0" dirty="0">
                <a:latin typeface="Arial"/>
                <a:cs typeface="Arial"/>
              </a:rPr>
              <a:t>zodiacales</a:t>
            </a:r>
            <a:r>
              <a:rPr lang="es-PE" sz="3000" b="1" noProof="0" dirty="0">
                <a:latin typeface="Arial"/>
                <a:cs typeface="Arial"/>
              </a:rPr>
              <a:t> van en minúscula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607" y="4683361"/>
            <a:ext cx="1424965" cy="1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99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AB1B10B-6ECB-EF6F-6C14-537C94A70A2F}"/>
              </a:ext>
            </a:extLst>
          </p:cNvPr>
          <p:cNvSpPr txBox="1"/>
          <p:nvPr/>
        </p:nvSpPr>
        <p:spPr>
          <a:xfrm>
            <a:off x="4460800" y="420595"/>
            <a:ext cx="3270400" cy="648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3600" b="1" noProof="0" dirty="0">
                <a:solidFill>
                  <a:srgbClr val="FF0000"/>
                </a:solidFill>
                <a:latin typeface="Arial"/>
                <a:cs typeface="Arial"/>
              </a:rPr>
              <a:t>EVALUACIÓN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BC754F-BBCE-F34F-C66D-03FDDF9877CE}"/>
              </a:ext>
            </a:extLst>
          </p:cNvPr>
          <p:cNvSpPr txBox="1"/>
          <p:nvPr/>
        </p:nvSpPr>
        <p:spPr>
          <a:xfrm>
            <a:off x="1316333" y="1324167"/>
            <a:ext cx="10291013" cy="445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s-PE" sz="2400" b="1" noProof="0" dirty="0">
                <a:latin typeface="Cambria Math"/>
                <a:ea typeface="MS Mincho"/>
              </a:rPr>
              <a:t>Marque la oración en la cual predomina la función representativa del lenguaje.</a:t>
            </a:r>
          </a:p>
          <a:p>
            <a:pPr algn="just">
              <a:lnSpc>
                <a:spcPct val="150000"/>
              </a:lnSpc>
            </a:pPr>
            <a:endParaRPr lang="es-PE" sz="2400" b="1" noProof="0" dirty="0">
              <a:latin typeface="Cambria Math"/>
              <a:ea typeface="MS Mincho"/>
            </a:endParaRP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Cambria Math"/>
              </a:rPr>
              <a:t>A) El paciente sintió un dolor punzante.	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Cambria Math"/>
              </a:rPr>
              <a:t>B) Coloquen sus nombres y apellidos.</a:t>
            </a:r>
          </a:p>
          <a:p>
            <a:pPr algn="just">
              <a:lnSpc>
                <a:spcPct val="150000"/>
              </a:lnSpc>
              <a:buNone/>
            </a:pPr>
            <a:r>
              <a:rPr lang="es-PE" sz="2400" noProof="0" dirty="0">
                <a:latin typeface="Cambria Math"/>
                <a:ea typeface="Cambria Math"/>
              </a:rPr>
              <a:t>C) Las palabras graves no llevan tilde.	</a:t>
            </a:r>
          </a:p>
          <a:p>
            <a:pPr algn="just">
              <a:lnSpc>
                <a:spcPct val="150000"/>
              </a:lnSpc>
              <a:buNone/>
            </a:pPr>
            <a:r>
              <a:rPr lang="es-PE" sz="2400" noProof="0" dirty="0">
                <a:latin typeface="Cambria Math"/>
                <a:ea typeface="Cambria Math"/>
              </a:rPr>
              <a:t>D) ¡Les imploro perdón por mis actos!</a:t>
            </a:r>
          </a:p>
          <a:p>
            <a:pPr algn="just">
              <a:lnSpc>
                <a:spcPct val="150000"/>
              </a:lnSpc>
              <a:buNone/>
            </a:pPr>
            <a:r>
              <a:rPr lang="es-PE" sz="2400" noProof="0" dirty="0">
                <a:latin typeface="Cambria Math"/>
                <a:ea typeface="Cambria Math"/>
              </a:rPr>
              <a:t>E) Estoy atónito con el fatal accidente.</a:t>
            </a:r>
          </a:p>
        </p:txBody>
      </p:sp>
    </p:spTree>
    <p:extLst>
      <p:ext uri="{BB962C8B-B14F-4D97-AF65-F5344CB8AC3E}">
        <p14:creationId xmlns:p14="http://schemas.microsoft.com/office/powerpoint/2010/main" val="252121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954F79B-0E20-7A30-4524-EA8A9D23985C}"/>
              </a:ext>
            </a:extLst>
          </p:cNvPr>
          <p:cNvSpPr txBox="1"/>
          <p:nvPr/>
        </p:nvSpPr>
        <p:spPr>
          <a:xfrm>
            <a:off x="1547446" y="1173542"/>
            <a:ext cx="9961382" cy="489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2. En la situación comunicativa "Los promotores escucharon atentamente el proyecto que el ingeniero civil expuso en una feria virtual a través de </a:t>
            </a:r>
            <a:r>
              <a:rPr lang="es-PE" sz="2400" b="1" noProof="0" dirty="0" err="1">
                <a:latin typeface="Cambria Math"/>
                <a:ea typeface="MS Mincho"/>
              </a:rPr>
              <a:t>Teams</a:t>
            </a:r>
            <a:r>
              <a:rPr lang="es-PE" sz="2400" b="1" noProof="0" dirty="0">
                <a:latin typeface="Cambria Math"/>
                <a:ea typeface="MS Mincho"/>
              </a:rPr>
              <a:t>", el canal y el receptor son, respectivamente,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los promotores y el ingeniero civil.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 err="1">
                <a:latin typeface="Cambria Math"/>
                <a:ea typeface="MS Mincho"/>
              </a:rPr>
              <a:t>Teams</a:t>
            </a:r>
            <a:r>
              <a:rPr lang="es-PE" sz="2400" noProof="0" dirty="0">
                <a:latin typeface="Cambria Math"/>
                <a:ea typeface="MS Mincho"/>
              </a:rPr>
              <a:t> y los promotores.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C) el ingeniero civil y el castellano.			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D) las ondas sonoras y una feria virtual.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E) </a:t>
            </a:r>
            <a:r>
              <a:rPr lang="es-PE" sz="2400" noProof="0" dirty="0" err="1">
                <a:latin typeface="Cambria Math"/>
                <a:ea typeface="MS Mincho"/>
              </a:rPr>
              <a:t>Teams</a:t>
            </a:r>
            <a:r>
              <a:rPr lang="es-PE" sz="2400" noProof="0" dirty="0">
                <a:latin typeface="Cambria Math"/>
                <a:ea typeface="MS Mincho"/>
              </a:rPr>
              <a:t> y el ingeniero civil.</a:t>
            </a:r>
          </a:p>
          <a:p>
            <a:pPr algn="just">
              <a:buNone/>
            </a:pPr>
            <a:r>
              <a:rPr lang="es-PE" sz="2400" noProof="0" dirty="0">
                <a:latin typeface="Cambria Math"/>
                <a:ea typeface="MS Minch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91208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2EAFFF6-CA69-354E-1252-D4B98A11716B}"/>
              </a:ext>
            </a:extLst>
          </p:cNvPr>
          <p:cNvSpPr txBox="1"/>
          <p:nvPr/>
        </p:nvSpPr>
        <p:spPr>
          <a:xfrm>
            <a:off x="996723" y="837925"/>
            <a:ext cx="10198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3. Señale si es verdadero (V) o falso (F) respecto de los tipos de comunicación.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I. Es un caso de comunicación directa “El poeta recita un poema a su público en el auditorio”.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II. En “Beto Ortiz entrevista al candidato en el set televisivo”, la comunicación es directa y bidireccional.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III. En “González Prada expuso su discurso en el Politeama”, existe un tipo de comunicación intrapersonal.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A) VVV		B) FFF	    	C) FVV		D) FFV	            E) VVF</a:t>
            </a:r>
          </a:p>
        </p:txBody>
      </p:sp>
    </p:spTree>
    <p:extLst>
      <p:ext uri="{BB962C8B-B14F-4D97-AF65-F5344CB8AC3E}">
        <p14:creationId xmlns:p14="http://schemas.microsoft.com/office/powerpoint/2010/main" val="1255072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D5939CE-FEBE-D0B2-59A9-4B8C5E84708F}"/>
              </a:ext>
            </a:extLst>
          </p:cNvPr>
          <p:cNvSpPr txBox="1"/>
          <p:nvPr/>
        </p:nvSpPr>
        <p:spPr>
          <a:xfrm>
            <a:off x="1276141" y="769613"/>
            <a:ext cx="100815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4. ¿Qué afirmación(es) es(son) incorrecta(s) respecto de las funciones del lenguaje?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I. La función referencial predomina en la expresión "Amigo, disfruta de la juventud”.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II. En “El oncólogo le ordenó un tratamiento de quimioterapia”, destaca la función fática.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III. Destaca la función de glosa en “Los sustantivos y los adjetivos son palabras variables”. 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A) I, II y III	 B) I y III	C) I y II	   D) Solo II	      E) Solo I</a:t>
            </a:r>
          </a:p>
        </p:txBody>
      </p:sp>
    </p:spTree>
    <p:extLst>
      <p:ext uri="{BB962C8B-B14F-4D97-AF65-F5344CB8AC3E}">
        <p14:creationId xmlns:p14="http://schemas.microsoft.com/office/powerpoint/2010/main" val="4258690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27099B8-75AF-9CB4-ACE0-F06E9D075689}"/>
              </a:ext>
            </a:extLst>
          </p:cNvPr>
          <p:cNvSpPr txBox="1"/>
          <p:nvPr/>
        </p:nvSpPr>
        <p:spPr>
          <a:xfrm>
            <a:off x="1416818" y="807386"/>
            <a:ext cx="9976398" cy="445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5. En el enunciado "El director felicitó, con gran satisfacción, a los ingresantes del presente ciclo académico", el elemento de la comunicación que destaca es el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emisor.	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receptor.	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referente.	   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 canal.          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 contexto.</a:t>
            </a:r>
          </a:p>
        </p:txBody>
      </p:sp>
    </p:spTree>
    <p:extLst>
      <p:ext uri="{BB962C8B-B14F-4D97-AF65-F5344CB8AC3E}">
        <p14:creationId xmlns:p14="http://schemas.microsoft.com/office/powerpoint/2010/main" val="3219281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543F588-8783-4A83-1ED8-3FDC03FACC46}"/>
              </a:ext>
            </a:extLst>
          </p:cNvPr>
          <p:cNvSpPr txBox="1"/>
          <p:nvPr/>
        </p:nvSpPr>
        <p:spPr>
          <a:xfrm>
            <a:off x="1477107" y="937073"/>
            <a:ext cx="99791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6. ¿Cuál(es) es (son) la(s) oración(es) que evidencian uso adecuado de las reglas de las mayúsculas y minúsculas considerando la puntuación?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I. ¿Por qué vienes tan tarde? ¿olvidaste activar tu alarma?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II. Estimado director: /Se le solicita permiso para…           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III. Llegaron cansados a clase: no tenían buen ánimo.</a:t>
            </a:r>
          </a:p>
          <a:p>
            <a:pPr algn="just">
              <a:lnSpc>
                <a:spcPct val="150000"/>
              </a:lnSpc>
            </a:pPr>
            <a:endParaRPr lang="es-PE" sz="2400" noProof="0" dirty="0">
              <a:latin typeface="Cambria Math"/>
              <a:ea typeface="MS Mincho"/>
            </a:endParaRP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A) Solo II	 B) II y III	C) I, II y III	D) I y III	E) Solo I</a:t>
            </a:r>
          </a:p>
        </p:txBody>
      </p:sp>
    </p:spTree>
    <p:extLst>
      <p:ext uri="{BB962C8B-B14F-4D97-AF65-F5344CB8AC3E}">
        <p14:creationId xmlns:p14="http://schemas.microsoft.com/office/powerpoint/2010/main" val="3962380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179B3F1-8BF1-4D04-2A41-6E5E8271122A}"/>
              </a:ext>
            </a:extLst>
          </p:cNvPr>
          <p:cNvSpPr txBox="1"/>
          <p:nvPr/>
        </p:nvSpPr>
        <p:spPr>
          <a:xfrm>
            <a:off x="1316334" y="778330"/>
            <a:ext cx="10377680" cy="445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7. Señale la alternativa que presenta uso adecuado de las letras mayúsculas y minúsculas.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I. Miguel Grau, el Caballero de los Mares, fue reconocido internacionalmente.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II. El policía De la Cruz declaró ante las autoridades por sus actos delictivos.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III. El actor La Rosa es muy reconocido actualmente en la empresa Televisa.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IV. La señora Rosario De </a:t>
            </a:r>
            <a:r>
              <a:rPr lang="es-PE" sz="2400" noProof="0" dirty="0" err="1">
                <a:latin typeface="Cambria Math"/>
                <a:ea typeface="MS Mincho"/>
              </a:rPr>
              <a:t>de</a:t>
            </a:r>
            <a:r>
              <a:rPr lang="es-PE" sz="2400" noProof="0" dirty="0">
                <a:latin typeface="Cambria Math"/>
                <a:ea typeface="MS Mincho"/>
              </a:rPr>
              <a:t> la Vega desempeña un alto cargo en la compañía.</a:t>
            </a:r>
          </a:p>
          <a:p>
            <a:pPr algn="just">
              <a:lnSpc>
                <a:spcPct val="150000"/>
              </a:lnSpc>
            </a:pPr>
            <a:endParaRPr lang="es-PE" sz="2400" noProof="0" dirty="0">
              <a:latin typeface="Cambria Math"/>
              <a:ea typeface="MS Mincho"/>
            </a:endParaRP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A) I, II y III  	 B) I y IV       	C) I, II y IV    	D) III y IV      	E) Solo I y II</a:t>
            </a:r>
          </a:p>
        </p:txBody>
      </p:sp>
    </p:spTree>
    <p:extLst>
      <p:ext uri="{BB962C8B-B14F-4D97-AF65-F5344CB8AC3E}">
        <p14:creationId xmlns:p14="http://schemas.microsoft.com/office/powerpoint/2010/main" val="222088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1E0054A-DFAC-3780-032E-FCCD09C66D05}"/>
              </a:ext>
            </a:extLst>
          </p:cNvPr>
          <p:cNvSpPr txBox="1"/>
          <p:nvPr/>
        </p:nvSpPr>
        <p:spPr>
          <a:xfrm>
            <a:off x="1406769" y="500843"/>
            <a:ext cx="9899153" cy="58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b="1" noProof="0" dirty="0">
                <a:latin typeface="Cambria Math"/>
                <a:ea typeface="MS Mincho"/>
              </a:rPr>
              <a:t>8. </a:t>
            </a:r>
            <a:r>
              <a:rPr lang="es-PE" sz="2400" b="1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¿Cuál de las series completa adecuadamente las siguientes oraciones con respecto al uso de mayúsculas y minúsculas?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I. La enamorada de mi amigo de la universidad es _____________.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II. Gian Marco es el _____________ de la música.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III. Piura es actualmente la _________________.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IV. Aristóteles, el ____________, fue un filósofo de la moral.  	       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A) piscis - </a:t>
            </a:r>
            <a:r>
              <a:rPr lang="es-PE" sz="2400" noProof="0" dirty="0" err="1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gasparín</a:t>
            </a: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 - ciudad del eterno calor - estagirita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B) Piscis - </a:t>
            </a:r>
            <a:r>
              <a:rPr lang="es-PE" sz="2400" noProof="0" dirty="0" err="1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Gasparín</a:t>
            </a: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 -Ciudad del Eterno Calor - estagirita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C) piscis - </a:t>
            </a:r>
            <a:r>
              <a:rPr lang="es-PE" sz="2400" noProof="0" dirty="0" err="1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Gasparín</a:t>
            </a: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 - Ciudad del Eterno Calor – Estagirita   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D) Piscis - </a:t>
            </a:r>
            <a:r>
              <a:rPr lang="es-PE" sz="2400" noProof="0" dirty="0" err="1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gasparín</a:t>
            </a: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 - ciudad del eterno calor - Estagirita</a:t>
            </a: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</a:pP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E) piscis - </a:t>
            </a:r>
            <a:r>
              <a:rPr lang="es-PE" sz="2400" noProof="0" dirty="0" err="1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gasparín</a:t>
            </a:r>
            <a:r>
              <a:rPr lang="es-PE" sz="2400" noProof="0" dirty="0">
                <a:solidFill>
                  <a:srgbClr val="000000"/>
                </a:solidFill>
                <a:latin typeface="Cambria"/>
                <a:ea typeface="Calibri"/>
                <a:cs typeface="Times New Roman"/>
              </a:rPr>
              <a:t> - Ciudad del Eterno Calor - Estagirita</a:t>
            </a:r>
          </a:p>
        </p:txBody>
      </p:sp>
    </p:spTree>
    <p:extLst>
      <p:ext uri="{BB962C8B-B14F-4D97-AF65-F5344CB8AC3E}">
        <p14:creationId xmlns:p14="http://schemas.microsoft.com/office/powerpoint/2010/main" val="3542334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1A991FB-F46B-E8A1-1649-F60189C9745F}"/>
              </a:ext>
            </a:extLst>
          </p:cNvPr>
          <p:cNvSpPr txBox="1"/>
          <p:nvPr/>
        </p:nvSpPr>
        <p:spPr>
          <a:xfrm>
            <a:off x="1235947" y="1098463"/>
            <a:ext cx="10263184" cy="445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9. Identifique el enunciado con uso adecuado de mayúsculas y minúsculas de los apellidos.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Juan Ramón De La Riva Pérez	</a:t>
            </a:r>
          </a:p>
          <a:p>
            <a:pPr marL="457200" indent="-457200" algn="just">
              <a:lnSpc>
                <a:spcPct val="150000"/>
              </a:lnSpc>
              <a:buAutoNum type="alphaUcParenR"/>
            </a:pPr>
            <a:r>
              <a:rPr lang="es-PE" sz="2400" noProof="0" dirty="0">
                <a:latin typeface="Cambria Math"/>
                <a:ea typeface="MS Mincho"/>
              </a:rPr>
              <a:t>El congresista Del Valle Ocampo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C) La poeta Fiorela De León Mora	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D) Sor Juana Inés De La Cruz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E) La árbitra los Rosales Motta</a:t>
            </a:r>
          </a:p>
          <a:p>
            <a:pPr algn="just">
              <a:lnSpc>
                <a:spcPct val="150000"/>
              </a:lnSpc>
              <a:buNone/>
            </a:pPr>
            <a:endParaRPr lang="es-PE" sz="2400" noProof="0" dirty="0">
              <a:latin typeface="Cambria Math"/>
              <a:ea typeface="MS Mincho"/>
            </a:endParaRPr>
          </a:p>
        </p:txBody>
      </p:sp>
    </p:spTree>
    <p:extLst>
      <p:ext uri="{BB962C8B-B14F-4D97-AF65-F5344CB8AC3E}">
        <p14:creationId xmlns:p14="http://schemas.microsoft.com/office/powerpoint/2010/main" val="2544213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4F0570C-D87F-D72A-E540-91A396A8B6F3}"/>
              </a:ext>
            </a:extLst>
          </p:cNvPr>
          <p:cNvSpPr txBox="1"/>
          <p:nvPr/>
        </p:nvSpPr>
        <p:spPr>
          <a:xfrm>
            <a:off x="1256044" y="1036932"/>
            <a:ext cx="10192669" cy="390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2400" b="1" noProof="0" dirty="0">
                <a:latin typeface="Cambria Math"/>
                <a:ea typeface="MS Mincho"/>
              </a:rPr>
              <a:t>10. ¿Cuál es la alternativa que evidencia uso inadecuado de las mayúsculas y minúsculas?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A) Jugará el viernes el futbolista Guerrero, el depredador.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B) Mis tiernas y dulces mascotas son Argos y Ulises.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C) Solicitó una certificación al director Ruiz de Pastor.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D) Balcázar, el nuevo presidente, es del signo Cáncer.</a:t>
            </a:r>
          </a:p>
          <a:p>
            <a:pPr algn="just">
              <a:lnSpc>
                <a:spcPct val="150000"/>
              </a:lnSpc>
            </a:pPr>
            <a:r>
              <a:rPr lang="es-PE" sz="2400" noProof="0" dirty="0">
                <a:latin typeface="Cambria Math"/>
                <a:ea typeface="MS Mincho"/>
              </a:rPr>
              <a:t>E) Viajamos a Trujillo, la </a:t>
            </a:r>
            <a:r>
              <a:rPr lang="es-PE" sz="2400" b="1" noProof="0" dirty="0">
                <a:solidFill>
                  <a:srgbClr val="FF0000"/>
                </a:solidFill>
                <a:latin typeface="Cambria Math"/>
                <a:ea typeface="MS Mincho"/>
              </a:rPr>
              <a:t>Ciudad</a:t>
            </a:r>
            <a:r>
              <a:rPr lang="es-PE" sz="2400" noProof="0" dirty="0">
                <a:latin typeface="Cambria Math"/>
                <a:ea typeface="MS Mincho"/>
              </a:rPr>
              <a:t> de la Eterna Primavera.        </a:t>
            </a:r>
          </a:p>
        </p:txBody>
      </p:sp>
    </p:spTree>
    <p:extLst>
      <p:ext uri="{BB962C8B-B14F-4D97-AF65-F5344CB8AC3E}">
        <p14:creationId xmlns:p14="http://schemas.microsoft.com/office/powerpoint/2010/main" val="2617098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9DE700B-ADDC-D64A-E804-8FEA29006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728893"/>
              </p:ext>
            </p:extLst>
          </p:nvPr>
        </p:nvGraphicFramePr>
        <p:xfrm>
          <a:off x="4826540" y="867682"/>
          <a:ext cx="2538919" cy="4663770"/>
        </p:xfrm>
        <a:graphic>
          <a:graphicData uri="http://schemas.openxmlformats.org/drawingml/2006/table">
            <a:tbl>
              <a:tblPr firstRow="1" firstCol="1" bandRow="1"/>
              <a:tblGrid>
                <a:gridCol w="1218462">
                  <a:extLst>
                    <a:ext uri="{9D8B030D-6E8A-4147-A177-3AD203B41FA5}">
                      <a16:colId xmlns:a16="http://schemas.microsoft.com/office/drawing/2014/main" val="229987630"/>
                    </a:ext>
                  </a:extLst>
                </a:gridCol>
                <a:gridCol w="1320457">
                  <a:extLst>
                    <a:ext uri="{9D8B030D-6E8A-4147-A177-3AD203B41FA5}">
                      <a16:colId xmlns:a16="http://schemas.microsoft.com/office/drawing/2014/main" val="324469005"/>
                    </a:ext>
                  </a:extLst>
                </a:gridCol>
              </a:tblGrid>
              <a:tr h="6855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PREGUNTA</a:t>
                      </a:r>
                      <a:endParaRPr lang="es-PE" sz="1600" noProof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RESPUESTA</a:t>
                      </a:r>
                      <a:endParaRPr lang="es-PE" sz="1600" noProof="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143748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474209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081611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511697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104004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185944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52956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761148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43053"/>
                  </a:ext>
                </a:extLst>
              </a:tr>
              <a:tr h="4304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618058"/>
                  </a:ext>
                </a:extLst>
              </a:tr>
              <a:tr h="3941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PE" sz="1600" b="1" noProof="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PE" sz="1600" noProof="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567" marR="425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068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561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B112C9-AE82-D081-A457-3C9C0472CB9B}"/>
              </a:ext>
            </a:extLst>
          </p:cNvPr>
          <p:cNvSpPr txBox="1"/>
          <p:nvPr/>
        </p:nvSpPr>
        <p:spPr>
          <a:xfrm>
            <a:off x="2084607" y="3013504"/>
            <a:ext cx="8022766" cy="830991"/>
          </a:xfrm>
          <a:prstGeom prst="rect">
            <a:avLst/>
          </a:prstGeom>
          <a:solidFill>
            <a:srgbClr val="F2FBD7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4800" b="1" noProof="0" dirty="0">
                <a:solidFill>
                  <a:srgbClr val="FF0000"/>
                </a:solidFill>
                <a:latin typeface="Arial"/>
                <a:cs typeface="Arial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2124385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3164</TotalTime>
  <Words>2493</Words>
  <Application>Microsoft Office PowerPoint</Application>
  <PresentationFormat>Panorámica</PresentationFormat>
  <Paragraphs>292</Paragraphs>
  <Slides>34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5" baseType="lpstr">
      <vt:lpstr>Algerian</vt:lpstr>
      <vt:lpstr>Aptos</vt:lpstr>
      <vt:lpstr>Aptos Display</vt:lpstr>
      <vt:lpstr>Arial</vt:lpstr>
      <vt:lpstr>Bubblegum Sans</vt:lpstr>
      <vt:lpstr>Calibri</vt:lpstr>
      <vt:lpstr>Cambria</vt:lpstr>
      <vt:lpstr>Cambria Math</vt:lpstr>
      <vt:lpstr>Roboto</vt:lpstr>
      <vt:lpstr>Wingdings</vt:lpstr>
      <vt:lpstr>Tema de Office</vt:lpstr>
      <vt:lpstr>COMUNICACIÓN HUMANA FUNCIONES DE LENGUAJE USO DE MAYÚSCULAS 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PIERINA CAMACHO AÑAZCO</dc:creator>
  <cp:lastModifiedBy>Evelyn Lizet Lugo Meza</cp:lastModifiedBy>
  <cp:revision>200</cp:revision>
  <dcterms:created xsi:type="dcterms:W3CDTF">2021-06-20T17:48:43Z</dcterms:created>
  <dcterms:modified xsi:type="dcterms:W3CDTF">2026-09-02T01:28:47Z</dcterms:modified>
</cp:coreProperties>
</file>