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1" r:id="rId3"/>
    <p:sldId id="307" r:id="rId4"/>
    <p:sldId id="308" r:id="rId5"/>
    <p:sldId id="292" r:id="rId6"/>
    <p:sldId id="309" r:id="rId7"/>
    <p:sldId id="295" r:id="rId8"/>
    <p:sldId id="310" r:id="rId9"/>
    <p:sldId id="311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A43234"/>
    <a:srgbClr val="79B7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957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60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261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165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14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432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614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878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146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670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45694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AAF6F-63AD-4E8C-A8AC-217C35C9C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F310CE-CFDB-4424-8FFE-492B173B1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D49765-7926-4C2F-94F9-9F992ACE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5B2A6-285F-4DDC-83AC-8EAD6702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153A5C-19B7-45C9-876A-9302208F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0036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A5D9E-B769-4A5A-AAA6-EB71E01A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FC704D-D0A0-4E00-91D0-AA7C05A3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86B97-082F-4910-9639-08492F54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1016E2-CB6E-497F-B57E-E3423C90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6DB756-4CE5-4195-8AB7-657C960B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3183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34D46-1D20-49D6-A1E0-6310D789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C54278-3233-43C6-A92B-9D6A27061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412CE3-8C5B-4E61-B792-6B2B0189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74096F-04C2-4FE2-BFC4-45887A04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114F94-CB04-4AFC-958C-7C54535A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3681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B8E9E-BDB1-471A-A33D-C10B368E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59484C-23C2-4A8B-B835-1D9686EB6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952D8E-6539-485E-AD44-FC331640A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01F5E-DFB5-410F-8325-F672107F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D80E2C-4627-4631-9FEB-5B9F6E89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6B070E-51B9-4053-A970-8D2E855A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667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D6F8-5B2C-42BB-ADFB-7A0C1B46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A6C92-CE5F-4379-9C3D-41E11D0F4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426A38-5B81-4EE2-BA7D-A36354F4A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43A9D2-73FE-4044-B02D-15DE6D467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68EA27-89A4-4879-98FC-FAFA32541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CC6CDA-57B1-4F66-B20E-1BED5A1B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99E533-70EC-4268-A62D-0A227C0F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065253-4460-4B5D-B858-9ADA7326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1254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EB6E4-A586-46DC-9124-71F338FA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F95589-F9CA-4C2A-A412-8B836D1F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783859-AC92-4711-8CA9-2AFA5556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C5FFBA-714F-4EBE-8233-D0E369D0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36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65E583-E25B-4EF4-8D43-EC8B85E7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773771-FE5C-411F-9C46-B3FF41DE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D575CB-3B6E-4445-A773-08C953B1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8435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E7C0E-0BF7-49AF-9F8D-75EB43E3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A36855-DA57-48CB-B406-ACB4D24D0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155F2C-F8FB-4BBA-8400-E400532DF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33EF54-5CD5-4E44-9586-FA880DFC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C773ED-FD98-49FE-9392-FB8D4B15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E0224C-D9B2-4597-884B-58F7A331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6623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ADA05-77A0-4FB4-8B4B-AEEACF60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BBE121-C0E4-4DD2-BD45-75A27BC77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717209-E107-44E6-B482-34B99CC60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F3F98A-1391-4589-ADB8-34CBFEC8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6E90EA-B554-49A7-98D2-78EB6D10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A5E21F-38E7-4146-8186-CB4B1E30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5089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B4499-974E-49F7-8445-C4966627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001DEB-5E9C-4C53-823B-F9A29C7AA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19782B-FC2C-42BE-8EC0-9158768B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D5F12-33FE-478A-AA87-A028BA4B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E620DE-B65D-4409-B7BF-C5E10322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3759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0499AF-3D83-40CB-A806-56A3EFABB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EC6ADE-3A3B-4CCA-87C6-D6CC0B0D4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A04B4-A8A0-43DA-857D-699FBDB7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9DE59-CE07-401D-8CEC-A57FB0D4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8770D8-E29A-4C99-A7BD-59210CF5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036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D9CE5-54D6-4CFC-AEAB-F29D086EBF8F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6ACB1-44C2-4A02-9FE1-601EE95F645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822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109099-97E2-4687-9193-415F8A3B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5BFDA5-D551-4044-A15C-4D0E3BFAF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6A5F5-E701-4C70-AE9C-6F486FBEF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9A08B-10FC-497D-B2C1-8CE1F940BA89}" type="datetimeFigureOut">
              <a:rPr lang="es-PE" smtClean="0"/>
              <a:t>3/03/2026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B4D25A-E1A2-4B0F-946D-5A37C7EE6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34CCB5-29B0-49DB-A350-663D211F8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4931F-57CF-409D-BC9E-EE217A3F5BC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735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cutt.ly/8f81Sjf" TargetMode="External"/><Relationship Id="rId7" Type="http://schemas.openxmlformats.org/officeDocument/2006/relationships/hyperlink" Target="https://cutt.ly/Gf81Ah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hyperlink" Target="https://cutt.ly/Bf81DBr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cutt.ly/gf81FbV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gif"/><Relationship Id="rId7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19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7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89E0508-9A21-4E80-9556-FB36D2014523}"/>
              </a:ext>
            </a:extLst>
          </p:cNvPr>
          <p:cNvSpPr txBox="1">
            <a:spLocks/>
          </p:cNvSpPr>
          <p:nvPr/>
        </p:nvSpPr>
        <p:spPr>
          <a:xfrm>
            <a:off x="9448800" y="1975443"/>
            <a:ext cx="2743200" cy="294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j-ea"/>
                <a:cs typeface="+mj-cs"/>
              </a:rPr>
              <a:t>PREUNIVERSITARIO</a:t>
            </a:r>
            <a:endParaRPr kumimoji="0" lang="es-PE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uhaus 93" panose="04030905020B02020C02" pitchFamily="82" charset="0"/>
              <a:ea typeface="+mj-ea"/>
              <a:cs typeface="+mj-cs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5770F69-B6B9-41AB-AEEA-BB14A4641E46}"/>
              </a:ext>
            </a:extLst>
          </p:cNvPr>
          <p:cNvSpPr txBox="1">
            <a:spLocks/>
          </p:cNvSpPr>
          <p:nvPr/>
        </p:nvSpPr>
        <p:spPr>
          <a:xfrm>
            <a:off x="10210800" y="5872421"/>
            <a:ext cx="1381125" cy="695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dirty="0">
                <a:solidFill>
                  <a:srgbClr val="076943"/>
                </a:solidFill>
                <a:latin typeface="Bauhaus 93" panose="04030905020B02020C02" pitchFamily="82" charset="0"/>
              </a:rPr>
              <a:t>01</a:t>
            </a:r>
            <a:endParaRPr kumimoji="0" lang="es-PE" sz="4000" b="0" i="0" u="none" strike="noStrike" kern="1200" cap="none" spc="0" normalizeH="0" baseline="0" noProof="0" dirty="0">
              <a:ln>
                <a:noFill/>
              </a:ln>
              <a:solidFill>
                <a:srgbClr val="076943"/>
              </a:solidFill>
              <a:effectLst/>
              <a:uLnTx/>
              <a:uFillTx/>
              <a:latin typeface="Bauhaus 93" panose="04030905020B02020C02" pitchFamily="82" charset="0"/>
              <a:ea typeface="+mj-ea"/>
              <a:cs typeface="+mj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58DA60-3760-4590-B4B1-F51643CA6508}"/>
              </a:ext>
            </a:extLst>
          </p:cNvPr>
          <p:cNvSpPr txBox="1"/>
          <p:nvPr/>
        </p:nvSpPr>
        <p:spPr>
          <a:xfrm>
            <a:off x="10024807" y="2269488"/>
            <a:ext cx="1870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2026-2</a:t>
            </a:r>
          </a:p>
        </p:txBody>
      </p:sp>
      <p:pic>
        <p:nvPicPr>
          <p:cNvPr id="7" name="Imagen 6">
            <a:hlinkClick r:id="rId3"/>
            <a:extLst>
              <a:ext uri="{FF2B5EF4-FFF2-40B4-BE49-F238E27FC236}">
                <a16:creationId xmlns:a16="http://schemas.microsoft.com/office/drawing/2014/main" id="{7F699FF5-C83A-4C6B-A804-A7F8B21B928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1" t="12277" r="57018" b="47474"/>
          <a:stretch/>
        </p:blipFill>
        <p:spPr>
          <a:xfrm>
            <a:off x="8509961" y="6608980"/>
            <a:ext cx="199973" cy="203747"/>
          </a:xfrm>
          <a:prstGeom prst="rect">
            <a:avLst/>
          </a:prstGeom>
        </p:spPr>
      </p:pic>
      <p:pic>
        <p:nvPicPr>
          <p:cNvPr id="8" name="Imagen 7">
            <a:hlinkClick r:id="rId5"/>
            <a:extLst>
              <a:ext uri="{FF2B5EF4-FFF2-40B4-BE49-F238E27FC236}">
                <a16:creationId xmlns:a16="http://schemas.microsoft.com/office/drawing/2014/main" id="{72851E80-3F7C-4792-82EE-2A0CB79242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7" t="13750" r="54375" b="45278"/>
          <a:stretch/>
        </p:blipFill>
        <p:spPr>
          <a:xfrm>
            <a:off x="8694904" y="6367044"/>
            <a:ext cx="213400" cy="213400"/>
          </a:xfrm>
          <a:prstGeom prst="rect">
            <a:avLst/>
          </a:prstGeom>
        </p:spPr>
      </p:pic>
      <p:pic>
        <p:nvPicPr>
          <p:cNvPr id="9" name="Imagen 8">
            <a:hlinkClick r:id="rId7"/>
            <a:extLst>
              <a:ext uri="{FF2B5EF4-FFF2-40B4-BE49-F238E27FC236}">
                <a16:creationId xmlns:a16="http://schemas.microsoft.com/office/drawing/2014/main" id="{51343031-FCB8-4A88-B7C4-044503ED7B9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9" t="13412" r="60099" b="55702"/>
          <a:stretch/>
        </p:blipFill>
        <p:spPr>
          <a:xfrm>
            <a:off x="8427322" y="6322009"/>
            <a:ext cx="250945" cy="286971"/>
          </a:xfrm>
          <a:prstGeom prst="rect">
            <a:avLst/>
          </a:prstGeom>
        </p:spPr>
      </p:pic>
      <p:pic>
        <p:nvPicPr>
          <p:cNvPr id="10" name="Imagen 9">
            <a:hlinkClick r:id="rId9"/>
            <a:extLst>
              <a:ext uri="{FF2B5EF4-FFF2-40B4-BE49-F238E27FC236}">
                <a16:creationId xmlns:a16="http://schemas.microsoft.com/office/drawing/2014/main" id="{FFB978E3-62BB-4574-B32F-F201FF5F3CE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1" t="21573" r="66764" b="32693"/>
          <a:stretch/>
        </p:blipFill>
        <p:spPr>
          <a:xfrm>
            <a:off x="8261423" y="6567745"/>
            <a:ext cx="215265" cy="244982"/>
          </a:xfrm>
          <a:prstGeom prst="rect">
            <a:avLst/>
          </a:prstGeom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>
        <p:nvSpPr>
          <p:cNvPr id="11" name="CustomShape 4">
            <a:extLst>
              <a:ext uri="{FF2B5EF4-FFF2-40B4-BE49-F238E27FC236}">
                <a16:creationId xmlns:a16="http://schemas.microsoft.com/office/drawing/2014/main" id="{6F6ED58A-C3D5-4E96-9087-D16F99AEC8C5}"/>
              </a:ext>
            </a:extLst>
          </p:cNvPr>
          <p:cNvSpPr/>
          <p:nvPr/>
        </p:nvSpPr>
        <p:spPr>
          <a:xfrm>
            <a:off x="2069447" y="4208207"/>
            <a:ext cx="7100640" cy="11990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4000" b="1" i="0" u="none" strike="noStrike" kern="1200" cap="none" spc="-1" normalizeH="0" baseline="0" noProof="0" dirty="0">
                <a:ln>
                  <a:noFill/>
                </a:ln>
                <a:solidFill>
                  <a:srgbClr val="A20000"/>
                </a:solidFill>
                <a:effectLst/>
                <a:uLnTx/>
                <a:uFill>
                  <a:solidFill>
                    <a:srgbClr val="FFFFFF"/>
                  </a:solidFill>
                </a:uFill>
                <a:latin typeface="Bubblegum Sans"/>
                <a:ea typeface="DejaVu Sans"/>
                <a:cs typeface="+mn-cs"/>
              </a:rPr>
              <a:t>Problemas a desarrollar en clase</a:t>
            </a:r>
            <a:endParaRPr kumimoji="0" lang="es-PE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FFFFFF"/>
                </a:solidFill>
              </a:uFill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6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4CD6-D03F-DA06-8904-5D760235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4">
            <a:extLst>
              <a:ext uri="{FF2B5EF4-FFF2-40B4-BE49-F238E27FC236}">
                <a16:creationId xmlns:a16="http://schemas.microsoft.com/office/drawing/2014/main" id="{6EDE4DBA-9452-015A-0D17-3DF161F9C029}"/>
              </a:ext>
            </a:extLst>
          </p:cNvPr>
          <p:cNvSpPr/>
          <p:nvPr/>
        </p:nvSpPr>
        <p:spPr>
          <a:xfrm>
            <a:off x="1539761" y="126949"/>
            <a:ext cx="10027227" cy="11990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4000" b="1" spc="-1" dirty="0">
                <a:solidFill>
                  <a:srgbClr val="A20000"/>
                </a:solidFill>
                <a:uFill>
                  <a:solidFill>
                    <a:srgbClr val="FFFFFF"/>
                  </a:solidFill>
                </a:uFill>
                <a:latin typeface="Bubblegum Sans"/>
              </a:rPr>
              <a:t>PROBLEMAS A DESARROLLAR</a:t>
            </a:r>
            <a:endParaRPr kumimoji="0" lang="es-PE" sz="1800" b="0" i="0" u="sng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>
                <a:solidFill>
                  <a:srgbClr val="FFFFFF"/>
                </a:solidFill>
              </a:uFill>
              <a:latin typeface="Arial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95D21B-74AD-D8B2-D00E-E4ABE0A1E0F8}"/>
              </a:ext>
            </a:extLst>
          </p:cNvPr>
          <p:cNvSpPr txBox="1"/>
          <p:nvPr/>
        </p:nvSpPr>
        <p:spPr>
          <a:xfrm>
            <a:off x="1958425" y="1587142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13: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Suma gráfica  </a:t>
            </a:r>
            <a:endParaRPr lang="es-E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0F278A-21B7-6C86-32F1-710E7036CEE2}"/>
              </a:ext>
            </a:extLst>
          </p:cNvPr>
          <p:cNvSpPr txBox="1"/>
          <p:nvPr/>
        </p:nvSpPr>
        <p:spPr>
          <a:xfrm>
            <a:off x="1958425" y="2385459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15: </a:t>
            </a:r>
            <a:r>
              <a:rPr lang="es-PE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Vector unitario</a:t>
            </a:r>
            <a:endParaRPr lang="es-ES" sz="2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095DB3-BC87-A1DA-461F-948F3B096F23}"/>
              </a:ext>
            </a:extLst>
          </p:cNvPr>
          <p:cNvSpPr txBox="1"/>
          <p:nvPr/>
        </p:nvSpPr>
        <p:spPr>
          <a:xfrm>
            <a:off x="1958425" y="3138908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24:</a:t>
            </a:r>
            <a:r>
              <a:rPr lang="es-E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Producto de vectores</a:t>
            </a:r>
            <a:endParaRPr lang="es-ES" sz="2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ACD3A8-F4E1-2EBE-610A-5EC8BE5DEB9D}"/>
              </a:ext>
            </a:extLst>
          </p:cNvPr>
          <p:cNvSpPr txBox="1"/>
          <p:nvPr/>
        </p:nvSpPr>
        <p:spPr>
          <a:xfrm>
            <a:off x="1958425" y="3838930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29: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Función lineal y cuadrática  </a:t>
            </a:r>
            <a:endParaRPr lang="es-E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770CE4-C633-32EE-2619-CFAF8BE9C1F8}"/>
              </a:ext>
            </a:extLst>
          </p:cNvPr>
          <p:cNvSpPr txBox="1"/>
          <p:nvPr/>
        </p:nvSpPr>
        <p:spPr>
          <a:xfrm>
            <a:off x="1958425" y="4597820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32: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Cantidades cinemáticas</a:t>
            </a:r>
            <a:endParaRPr lang="es-E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5064F1-197B-5EDB-8716-2744E71157CD}"/>
              </a:ext>
            </a:extLst>
          </p:cNvPr>
          <p:cNvSpPr txBox="1"/>
          <p:nvPr/>
        </p:nvSpPr>
        <p:spPr>
          <a:xfrm>
            <a:off x="1958425" y="5356710"/>
            <a:ext cx="7317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Prob. 33: </a:t>
            </a:r>
            <a:r>
              <a:rPr lang="es-MX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Cantidades cinemáticas</a:t>
            </a:r>
            <a:endParaRPr lang="es-E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32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2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D855-47EA-32A9-34D1-363B9047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4DFD9273-067B-749F-3C69-839400A2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77495C5-B1A6-39CD-1FA9-EF5BDAF24D05}"/>
              </a:ext>
            </a:extLst>
          </p:cNvPr>
          <p:cNvCxnSpPr>
            <a:cxnSpLocks/>
          </p:cNvCxnSpPr>
          <p:nvPr/>
        </p:nvCxnSpPr>
        <p:spPr>
          <a:xfrm>
            <a:off x="5854570" y="0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EBAA117D-88B6-6DA9-F961-0EF0511454F6}"/>
              </a:ext>
            </a:extLst>
          </p:cNvPr>
          <p:cNvSpPr txBox="1"/>
          <p:nvPr/>
        </p:nvSpPr>
        <p:spPr>
          <a:xfrm>
            <a:off x="1171644" y="437914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13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01CE02-2358-72C5-4B03-08B9E111E625}"/>
              </a:ext>
            </a:extLst>
          </p:cNvPr>
          <p:cNvSpPr txBox="1"/>
          <p:nvPr/>
        </p:nvSpPr>
        <p:spPr>
          <a:xfrm>
            <a:off x="6002777" y="106312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0C5252-A5B9-38BC-0777-9B4A86CA8D37}"/>
              </a:ext>
            </a:extLst>
          </p:cNvPr>
          <p:cNvSpPr txBox="1"/>
          <p:nvPr/>
        </p:nvSpPr>
        <p:spPr>
          <a:xfrm>
            <a:off x="10563224" y="5924026"/>
            <a:ext cx="1299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RPTA: E</a:t>
            </a: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7DB54313-2BB9-0A83-687F-4D8A9CCDA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29" y="1157926"/>
            <a:ext cx="4437841" cy="3815391"/>
          </a:xfrm>
          <a:prstGeom prst="rect">
            <a:avLst/>
          </a:prstGeom>
        </p:spPr>
      </p:pic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4C2CAEC4-5EEE-B0C3-6E80-53B0F31B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82" t="17355" r="23443" b="26495"/>
          <a:stretch>
            <a:fillRect/>
          </a:stretch>
        </p:blipFill>
        <p:spPr>
          <a:xfrm>
            <a:off x="6355152" y="627678"/>
            <a:ext cx="4565219" cy="3450209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2F8423B-CB01-9B8C-B146-BF6EB020531B}"/>
              </a:ext>
            </a:extLst>
          </p:cNvPr>
          <p:cNvCxnSpPr>
            <a:cxnSpLocks/>
          </p:cNvCxnSpPr>
          <p:nvPr/>
        </p:nvCxnSpPr>
        <p:spPr>
          <a:xfrm>
            <a:off x="6984957" y="3601660"/>
            <a:ext cx="1087892" cy="3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A1DD0B3-0AAB-DC53-A3BF-7CD67F64C24B}"/>
              </a:ext>
            </a:extLst>
          </p:cNvPr>
          <p:cNvCxnSpPr>
            <a:cxnSpLocks/>
          </p:cNvCxnSpPr>
          <p:nvPr/>
        </p:nvCxnSpPr>
        <p:spPr>
          <a:xfrm>
            <a:off x="8054979" y="3601657"/>
            <a:ext cx="2495182" cy="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F578302-908D-2AD5-16CC-43D2AF2D7059}"/>
                  </a:ext>
                </a:extLst>
              </p:cNvPr>
              <p:cNvSpPr txBox="1"/>
              <p:nvPr/>
            </p:nvSpPr>
            <p:spPr>
              <a:xfrm>
                <a:off x="5874959" y="3065621"/>
                <a:ext cx="33588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</m:oMath>
                  </m:oMathPara>
                </a14:m>
                <a:endParaRPr lang="es-P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F578302-908D-2AD5-16CC-43D2AF2D7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959" y="3065621"/>
                <a:ext cx="335887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88F6D84-A545-4E4B-884E-B5D2EDC6A5D4}"/>
                  </a:ext>
                </a:extLst>
              </p:cNvPr>
              <p:cNvSpPr txBox="1"/>
              <p:nvPr/>
            </p:nvSpPr>
            <p:spPr>
              <a:xfrm>
                <a:off x="7299056" y="3032964"/>
                <a:ext cx="335887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3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s-PE" sz="32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32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</m:oMath>
                  </m:oMathPara>
                </a14:m>
                <a:endParaRPr lang="es-PE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88F6D84-A545-4E4B-884E-B5D2EDC6A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056" y="3032964"/>
                <a:ext cx="335887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11FA3E9-7933-A2BA-E34F-D6B2DE33149E}"/>
                  </a:ext>
                </a:extLst>
              </p:cNvPr>
              <p:cNvSpPr txBox="1"/>
              <p:nvPr/>
            </p:nvSpPr>
            <p:spPr>
              <a:xfrm>
                <a:off x="4915847" y="4234398"/>
                <a:ext cx="4386723" cy="508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s-PE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11FA3E9-7933-A2BA-E34F-D6B2DE331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847" y="4234398"/>
                <a:ext cx="4386723" cy="508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E3DC87C1-4754-F6B5-5D45-56EF857B299D}"/>
                  </a:ext>
                </a:extLst>
              </p:cNvPr>
              <p:cNvSpPr txBox="1"/>
              <p:nvPr/>
            </p:nvSpPr>
            <p:spPr>
              <a:xfrm>
                <a:off x="4920158" y="4833920"/>
                <a:ext cx="4386723" cy="508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acc>
                        <m:accPr>
                          <m:chr m:val="⃗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es-PE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E3DC87C1-4754-F6B5-5D45-56EF857B2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158" y="4833920"/>
                <a:ext cx="4386723" cy="5088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6B54B3DB-F438-DD1F-9FAF-115D855956F0}"/>
              </a:ext>
            </a:extLst>
          </p:cNvPr>
          <p:cNvSpPr txBox="1"/>
          <p:nvPr/>
        </p:nvSpPr>
        <p:spPr>
          <a:xfrm>
            <a:off x="6337431" y="5523916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De donde: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6A07F84-EE4F-6CD4-1A66-8936746DADBD}"/>
                  </a:ext>
                </a:extLst>
              </p:cNvPr>
              <p:cNvSpPr txBox="1"/>
              <p:nvPr/>
            </p:nvSpPr>
            <p:spPr>
              <a:xfrm>
                <a:off x="5966497" y="5938389"/>
                <a:ext cx="4386723" cy="508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s-P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s-P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s-P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</m:acc>
                      <m:r>
                        <a:rPr lang="es-P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e>
                      </m:acc>
                      <m:r>
                        <a:rPr lang="es-P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>
                        <a:rPr lang="es-PE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PE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6A07F84-EE4F-6CD4-1A66-8936746D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497" y="5938389"/>
                <a:ext cx="4386723" cy="5088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82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0A4E116A-C0F5-124A-4252-60BB25F19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5EFB903-71EB-8FCD-E726-BA6971AC264A}"/>
              </a:ext>
            </a:extLst>
          </p:cNvPr>
          <p:cNvCxnSpPr>
            <a:cxnSpLocks/>
          </p:cNvCxnSpPr>
          <p:nvPr/>
        </p:nvCxnSpPr>
        <p:spPr>
          <a:xfrm>
            <a:off x="6116300" y="0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CBE8F896-9053-9E4F-C08D-873BCBB4AF65}"/>
              </a:ext>
            </a:extLst>
          </p:cNvPr>
          <p:cNvSpPr txBox="1"/>
          <p:nvPr/>
        </p:nvSpPr>
        <p:spPr>
          <a:xfrm>
            <a:off x="1445906" y="255551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15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862238-E3E4-DF33-97AB-7FC5EA140D9F}"/>
              </a:ext>
            </a:extLst>
          </p:cNvPr>
          <p:cNvSpPr txBox="1"/>
          <p:nvPr/>
        </p:nvSpPr>
        <p:spPr>
          <a:xfrm>
            <a:off x="10786695" y="6102779"/>
            <a:ext cx="121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RPTA: 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045DB1-A32D-C76F-C490-B2F18D021FF5}"/>
              </a:ext>
            </a:extLst>
          </p:cNvPr>
          <p:cNvSpPr txBox="1"/>
          <p:nvPr/>
        </p:nvSpPr>
        <p:spPr>
          <a:xfrm>
            <a:off x="6116300" y="37368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365CA56-0E21-5516-13EF-70427BAB6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138" y="4086756"/>
            <a:ext cx="1694144" cy="169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F65E858-742E-C388-0CB5-0618E72D5D02}"/>
                  </a:ext>
                </a:extLst>
              </p:cNvPr>
              <p:cNvSpPr txBox="1"/>
              <p:nvPr/>
            </p:nvSpPr>
            <p:spPr>
              <a:xfrm>
                <a:off x="6557377" y="1287240"/>
                <a:ext cx="4386723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acc>
                            <m:accPr>
                              <m:chr m:val="̂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  <m:acc>
                            <m:accPr>
                              <m:chr m:val="̂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+(2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F65E858-742E-C388-0CB5-0618E72D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77" y="1287240"/>
                <a:ext cx="4386723" cy="404791"/>
              </a:xfrm>
              <a:prstGeom prst="rect">
                <a:avLst/>
              </a:prstGeom>
              <a:blipFill>
                <a:blip r:embed="rId4"/>
                <a:stretch>
                  <a:fillRect r="-695" b="-134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59C10324-1CC3-0A8F-7C1C-3D336E5CA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900" y="1029723"/>
            <a:ext cx="4704112" cy="398137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4C5CFA-4E97-3930-3B1B-4E1A856F99B4}"/>
              </a:ext>
            </a:extLst>
          </p:cNvPr>
          <p:cNvSpPr txBox="1"/>
          <p:nvPr/>
        </p:nvSpPr>
        <p:spPr>
          <a:xfrm>
            <a:off x="6280589" y="778771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Del gráfico: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D2BAD44-1D66-33B7-1D8E-29B30FD2E98E}"/>
                  </a:ext>
                </a:extLst>
              </p:cNvPr>
              <p:cNvSpPr txBox="1"/>
              <p:nvPr/>
            </p:nvSpPr>
            <p:spPr>
              <a:xfrm>
                <a:off x="6557377" y="2036159"/>
                <a:ext cx="4386723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D2BAD44-1D66-33B7-1D8E-29B30FD2E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77" y="2036159"/>
                <a:ext cx="4386723" cy="404791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C2EBD15-2FC6-29E4-8061-83B95A6ACE1D}"/>
                  </a:ext>
                </a:extLst>
              </p:cNvPr>
              <p:cNvSpPr txBox="1"/>
              <p:nvPr/>
            </p:nvSpPr>
            <p:spPr>
              <a:xfrm>
                <a:off x="6557376" y="3232559"/>
                <a:ext cx="4386723" cy="800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acc>
                            <m:accPr>
                              <m:chr m:val="⃗"/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e>
                          </m:acc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P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P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s-P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P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acc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s-P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PE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C2EBD15-2FC6-29E4-8061-83B95A6AC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76" y="3232559"/>
                <a:ext cx="4386723" cy="8000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66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048C-D46F-4560-83DE-03AB4CF3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A33B20CD-5927-B9B3-CBFF-0FDC6D83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56E2983-04BC-E8DC-C3DD-918E21479D49}"/>
              </a:ext>
            </a:extLst>
          </p:cNvPr>
          <p:cNvCxnSpPr>
            <a:cxnSpLocks/>
          </p:cNvCxnSpPr>
          <p:nvPr/>
        </p:nvCxnSpPr>
        <p:spPr>
          <a:xfrm>
            <a:off x="6116300" y="0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22358C66-CB3D-D82E-0208-9164EB280F67}"/>
              </a:ext>
            </a:extLst>
          </p:cNvPr>
          <p:cNvSpPr txBox="1"/>
          <p:nvPr/>
        </p:nvSpPr>
        <p:spPr>
          <a:xfrm>
            <a:off x="1445906" y="255551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24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306A2-F1BD-7EA4-FF9D-581534F16E98}"/>
              </a:ext>
            </a:extLst>
          </p:cNvPr>
          <p:cNvSpPr txBox="1"/>
          <p:nvPr/>
        </p:nvSpPr>
        <p:spPr>
          <a:xfrm>
            <a:off x="10786695" y="6102779"/>
            <a:ext cx="121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RPTA: B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FAB76C-B339-FCA7-FB3D-4BDD7C9BF22A}"/>
              </a:ext>
            </a:extLst>
          </p:cNvPr>
          <p:cNvSpPr txBox="1"/>
          <p:nvPr/>
        </p:nvSpPr>
        <p:spPr>
          <a:xfrm>
            <a:off x="6116300" y="37368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91501D-8CFD-B310-DACB-DE382727D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138" y="4086756"/>
            <a:ext cx="1694144" cy="169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3DE60A9B-18E8-C912-49E0-B4EF99CA9BF7}"/>
                  </a:ext>
                </a:extLst>
              </p:cNvPr>
              <p:cNvSpPr txBox="1"/>
              <p:nvPr/>
            </p:nvSpPr>
            <p:spPr>
              <a:xfrm>
                <a:off x="6465289" y="786831"/>
                <a:ext cx="1811222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3DE60A9B-18E8-C912-49E0-B4EF99CA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289" y="786831"/>
                <a:ext cx="1811222" cy="404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B5F1DB39-D686-1292-F9A6-10B46C42DF63}"/>
              </a:ext>
            </a:extLst>
          </p:cNvPr>
          <p:cNvSpPr txBox="1"/>
          <p:nvPr/>
        </p:nvSpPr>
        <p:spPr>
          <a:xfrm>
            <a:off x="6280589" y="778771"/>
            <a:ext cx="603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1ED6B0-1274-B6BC-3DC7-5B89466C6627}"/>
              </a:ext>
            </a:extLst>
          </p:cNvPr>
          <p:cNvSpPr txBox="1"/>
          <p:nvPr/>
        </p:nvSpPr>
        <p:spPr>
          <a:xfrm>
            <a:off x="7370900" y="5119256"/>
            <a:ext cx="4386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latin typeface="Cambria Math" panose="02040503050406030204" pitchFamily="18" charset="0"/>
                <a:ea typeface="Cambria Math" panose="02040503050406030204" pitchFamily="18" charset="0"/>
              </a:rPr>
              <a:t>Respuesta: FFF</a:t>
            </a:r>
          </a:p>
        </p:txBody>
      </p:sp>
      <p:pic>
        <p:nvPicPr>
          <p:cNvPr id="10" name="Imagen 9" descr="Texto, Carta&#10;&#10;El contenido generado por IA puede ser incorrecto.">
            <a:extLst>
              <a:ext uri="{FF2B5EF4-FFF2-40B4-BE49-F238E27FC236}">
                <a16:creationId xmlns:a16="http://schemas.microsoft.com/office/drawing/2014/main" id="{2F74C015-3B0D-3558-EE9F-A4A60FCDF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85" y="1072103"/>
            <a:ext cx="5160575" cy="3431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D11669D-B6B5-8D76-B014-8A356602FFD1}"/>
                  </a:ext>
                </a:extLst>
              </p:cNvPr>
              <p:cNvSpPr txBox="1"/>
              <p:nvPr/>
            </p:nvSpPr>
            <p:spPr>
              <a:xfrm>
                <a:off x="6280589" y="1352197"/>
                <a:ext cx="2966563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P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</m:acc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P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e>
                      </m:acc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s-P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</m:t>
                      </m:r>
                      <m:acc>
                        <m:accPr>
                          <m:chr m:val="⃗"/>
                          <m:ctrlPr>
                            <a:rPr lang="es-P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PE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D11669D-B6B5-8D76-B014-8A356602F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589" y="1352197"/>
                <a:ext cx="2966563" cy="404791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B746F55B-0036-8D14-AE2A-7818586A41ED}"/>
              </a:ext>
            </a:extLst>
          </p:cNvPr>
          <p:cNvSpPr txBox="1"/>
          <p:nvPr/>
        </p:nvSpPr>
        <p:spPr>
          <a:xfrm>
            <a:off x="6280589" y="2196651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533945F-4FB4-3403-50D2-E75093BC9D4A}"/>
                  </a:ext>
                </a:extLst>
              </p:cNvPr>
              <p:cNvSpPr txBox="1"/>
              <p:nvPr/>
            </p:nvSpPr>
            <p:spPr>
              <a:xfrm>
                <a:off x="6352915" y="2196651"/>
                <a:ext cx="3991843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+11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+8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533945F-4FB4-3403-50D2-E75093BC9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915" y="2196651"/>
                <a:ext cx="3991843" cy="404791"/>
              </a:xfrm>
              <a:prstGeom prst="rect">
                <a:avLst/>
              </a:prstGeom>
              <a:blipFill>
                <a:blip r:embed="rId7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EC6E76BA-71DC-BFE8-0D9D-0F7FA7B36B87}"/>
                  </a:ext>
                </a:extLst>
              </p:cNvPr>
              <p:cNvSpPr txBox="1"/>
              <p:nvPr/>
            </p:nvSpPr>
            <p:spPr>
              <a:xfrm>
                <a:off x="6625226" y="2641167"/>
                <a:ext cx="3305849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=64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−80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+30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EC6E76BA-71DC-BFE8-0D9D-0F7FA7B36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226" y="2641167"/>
                <a:ext cx="3305849" cy="404791"/>
              </a:xfrm>
              <a:prstGeom prst="rect">
                <a:avLst/>
              </a:prstGeom>
              <a:blipFill>
                <a:blip r:embed="rId8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0084E15-2579-FB23-DFCE-0ABE719F1498}"/>
                  </a:ext>
                </a:extLst>
              </p:cNvPr>
              <p:cNvSpPr txBox="1"/>
              <p:nvPr/>
            </p:nvSpPr>
            <p:spPr>
              <a:xfrm>
                <a:off x="6721538" y="3156362"/>
                <a:ext cx="3816706" cy="427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P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PE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r>
                          <a:rPr lang="es-P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s-PE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</m:d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s-P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acc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𝟔𝟒𝟎</m:t>
                    </m:r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𝟖𝟖𝟎</m:t>
                    </m:r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P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𝟐𝟒𝟎</m:t>
                    </m:r>
                  </m:oMath>
                </a14:m>
                <a:r>
                  <a:rPr lang="es-PE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0084E15-2579-FB23-DFCE-0ABE719F1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538" y="3156362"/>
                <a:ext cx="3816706" cy="427040"/>
              </a:xfrm>
              <a:prstGeom prst="rect">
                <a:avLst/>
              </a:prstGeom>
              <a:blipFill>
                <a:blip r:embed="rId9"/>
                <a:stretch>
                  <a:fillRect t="-1429" r="-1278" b="-157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0D5D11A3-49E9-D8F7-2C3B-3264E0F6A2E5}"/>
              </a:ext>
            </a:extLst>
          </p:cNvPr>
          <p:cNvSpPr txBox="1"/>
          <p:nvPr/>
        </p:nvSpPr>
        <p:spPr>
          <a:xfrm>
            <a:off x="6280588" y="4138322"/>
            <a:ext cx="603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13526D7-BE8D-DD75-DD36-8C900FD0BFD4}"/>
                  </a:ext>
                </a:extLst>
              </p:cNvPr>
              <p:cNvSpPr txBox="1"/>
              <p:nvPr/>
            </p:nvSpPr>
            <p:spPr>
              <a:xfrm>
                <a:off x="6524688" y="4138322"/>
                <a:ext cx="4477359" cy="426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s-PE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P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s-PE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P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P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=24(</m:t>
                      </m:r>
                      <m:r>
                        <a:rPr lang="es-PE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−80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s-PE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+30</m:t>
                      </m:r>
                      <m:acc>
                        <m:accPr>
                          <m:chr m:val="̂"/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13526D7-BE8D-DD75-DD36-8C900FD0B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88" y="4138322"/>
                <a:ext cx="4477359" cy="426014"/>
              </a:xfrm>
              <a:prstGeom prst="rect">
                <a:avLst/>
              </a:prstGeom>
              <a:blipFill>
                <a:blip r:embed="rId1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35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/>
      <p:bldP spid="12" grpId="0" build="p"/>
      <p:bldP spid="2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0A4E116A-C0F5-124A-4252-60BB25F19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5EFB903-71EB-8FCD-E726-BA6971AC264A}"/>
              </a:ext>
            </a:extLst>
          </p:cNvPr>
          <p:cNvCxnSpPr>
            <a:cxnSpLocks/>
          </p:cNvCxnSpPr>
          <p:nvPr/>
        </p:nvCxnSpPr>
        <p:spPr>
          <a:xfrm>
            <a:off x="5513756" y="116825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4376232-8E7A-378D-F095-DB02B1B8D02D}"/>
              </a:ext>
            </a:extLst>
          </p:cNvPr>
          <p:cNvSpPr txBox="1"/>
          <p:nvPr/>
        </p:nvSpPr>
        <p:spPr>
          <a:xfrm>
            <a:off x="1409297" y="178776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29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CAD864A-C0D8-89BC-F08C-B3980F90439C}"/>
              </a:ext>
            </a:extLst>
          </p:cNvPr>
          <p:cNvSpPr txBox="1"/>
          <p:nvPr/>
        </p:nvSpPr>
        <p:spPr>
          <a:xfrm>
            <a:off x="10556205" y="5941317"/>
            <a:ext cx="1343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RPTA: 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97F3084-3090-77BC-5431-5767C6ECB79C}"/>
              </a:ext>
            </a:extLst>
          </p:cNvPr>
          <p:cNvSpPr txBox="1"/>
          <p:nvPr/>
        </p:nvSpPr>
        <p:spPr>
          <a:xfrm>
            <a:off x="1318727" y="2869342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pic>
        <p:nvPicPr>
          <p:cNvPr id="2093" name="Imagen 2092">
            <a:extLst>
              <a:ext uri="{FF2B5EF4-FFF2-40B4-BE49-F238E27FC236}">
                <a16:creationId xmlns:a16="http://schemas.microsoft.com/office/drawing/2014/main" id="{8F2FFD27-6544-70B9-6A8D-6C70D5705A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0542381" y="325443"/>
            <a:ext cx="1354870" cy="179954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3B128BA-6F1F-BD6D-618F-BCFFDBB5D654}"/>
              </a:ext>
            </a:extLst>
          </p:cNvPr>
          <p:cNvSpPr txBox="1"/>
          <p:nvPr/>
        </p:nvSpPr>
        <p:spPr>
          <a:xfrm>
            <a:off x="1204329" y="3392562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Reordenando la ecuación:</a:t>
            </a: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C9C50C7D-002D-EDF3-18F9-AB35AF29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02"/>
          <a:stretch>
            <a:fillRect/>
          </a:stretch>
        </p:blipFill>
        <p:spPr>
          <a:xfrm>
            <a:off x="1343609" y="824006"/>
            <a:ext cx="4033671" cy="1959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2079C94-FD09-58C2-4F58-427285DB2AA9}"/>
                  </a:ext>
                </a:extLst>
              </p:cNvPr>
              <p:cNvSpPr txBox="1"/>
              <p:nvPr/>
            </p:nvSpPr>
            <p:spPr>
              <a:xfrm>
                <a:off x="961661" y="3902656"/>
                <a:ext cx="47180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−2=3</m:t>
                      </m:r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2079C94-FD09-58C2-4F58-427285DB2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661" y="3902656"/>
                <a:ext cx="4718092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F9F22A5-33B9-3161-6DDD-00C0E8A483AE}"/>
                  </a:ext>
                </a:extLst>
              </p:cNvPr>
              <p:cNvSpPr txBox="1"/>
              <p:nvPr/>
            </p:nvSpPr>
            <p:spPr>
              <a:xfrm>
                <a:off x="1343609" y="4487827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)=(2 , 2)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F9F22A5-33B9-3161-6DDD-00C0E8A48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609" y="4487827"/>
                <a:ext cx="335887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94B26A3-E84A-D8AE-6284-AA9132E83FFE}"/>
              </a:ext>
            </a:extLst>
          </p:cNvPr>
          <p:cNvCxnSpPr/>
          <p:nvPr/>
        </p:nvCxnSpPr>
        <p:spPr>
          <a:xfrm>
            <a:off x="7046216" y="262874"/>
            <a:ext cx="0" cy="26673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F079203-EFD3-E263-996D-C07B42890CEB}"/>
              </a:ext>
            </a:extLst>
          </p:cNvPr>
          <p:cNvCxnSpPr>
            <a:cxnSpLocks/>
          </p:cNvCxnSpPr>
          <p:nvPr/>
        </p:nvCxnSpPr>
        <p:spPr>
          <a:xfrm rot="5400000">
            <a:off x="8037668" y="1529896"/>
            <a:ext cx="0" cy="22043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BA7AD53D-ED17-9776-94C5-44B0160A31DD}"/>
              </a:ext>
            </a:extLst>
          </p:cNvPr>
          <p:cNvSpPr/>
          <p:nvPr/>
        </p:nvSpPr>
        <p:spPr>
          <a:xfrm>
            <a:off x="6848581" y="440386"/>
            <a:ext cx="1966630" cy="1458553"/>
          </a:xfrm>
          <a:custGeom>
            <a:avLst/>
            <a:gdLst>
              <a:gd name="csX0" fmla="*/ 0 w 1278193"/>
              <a:gd name="csY0" fmla="*/ 29497 h 1061918"/>
              <a:gd name="csX1" fmla="*/ 658761 w 1278193"/>
              <a:gd name="csY1" fmla="*/ 1061884 h 1061918"/>
              <a:gd name="csX2" fmla="*/ 1278193 w 1278193"/>
              <a:gd name="csY2" fmla="*/ 0 h 1061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8193" h="1061918">
                <a:moveTo>
                  <a:pt x="0" y="29497"/>
                </a:moveTo>
                <a:cubicBezTo>
                  <a:pt x="222864" y="548148"/>
                  <a:pt x="445729" y="1066800"/>
                  <a:pt x="658761" y="1061884"/>
                </a:cubicBezTo>
                <a:cubicBezTo>
                  <a:pt x="871793" y="1056968"/>
                  <a:pt x="1074993" y="528484"/>
                  <a:pt x="1278193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F5A587A-DDF1-4326-D5D4-83BD30D523AB}"/>
                  </a:ext>
                </a:extLst>
              </p:cNvPr>
              <p:cNvSpPr txBox="1"/>
              <p:nvPr/>
            </p:nvSpPr>
            <p:spPr>
              <a:xfrm>
                <a:off x="4873485" y="738236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(0 , 14)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F5A587A-DDF1-4326-D5D4-83BD30D52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485" y="738236"/>
                <a:ext cx="3358877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1B38595-239D-08CA-A5C1-F779781BD40D}"/>
                  </a:ext>
                </a:extLst>
              </p:cNvPr>
              <p:cNvSpPr txBox="1"/>
              <p:nvPr/>
            </p:nvSpPr>
            <p:spPr>
              <a:xfrm>
                <a:off x="7070107" y="1306522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(3 , 5)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1B38595-239D-08CA-A5C1-F779781BD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107" y="1306522"/>
                <a:ext cx="3358877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A7A5EE5-0A7E-83FD-2B5C-CE8FD73E73CA}"/>
              </a:ext>
            </a:extLst>
          </p:cNvPr>
          <p:cNvCxnSpPr>
            <a:cxnSpLocks/>
          </p:cNvCxnSpPr>
          <p:nvPr/>
        </p:nvCxnSpPr>
        <p:spPr>
          <a:xfrm>
            <a:off x="7046216" y="863125"/>
            <a:ext cx="3788932" cy="2145546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9A848A7-CA3B-DE98-5E1B-34592BBEDC2B}"/>
              </a:ext>
            </a:extLst>
          </p:cNvPr>
          <p:cNvCxnSpPr>
            <a:stCxn id="15" idx="1"/>
          </p:cNvCxnSpPr>
          <p:nvPr/>
        </p:nvCxnSpPr>
        <p:spPr>
          <a:xfrm>
            <a:off x="7862152" y="1898892"/>
            <a:ext cx="0" cy="73320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0766231-9E8D-A766-FD25-04C3FA726B3B}"/>
              </a:ext>
            </a:extLst>
          </p:cNvPr>
          <p:cNvCxnSpPr>
            <a:cxnSpLocks/>
          </p:cNvCxnSpPr>
          <p:nvPr/>
        </p:nvCxnSpPr>
        <p:spPr>
          <a:xfrm rot="5400000">
            <a:off x="7466055" y="1513077"/>
            <a:ext cx="0" cy="8065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A19EDC8-D02F-85A0-F3E8-A8FB4A4CABF3}"/>
                  </a:ext>
                </a:extLst>
              </p:cNvPr>
              <p:cNvSpPr txBox="1"/>
              <p:nvPr/>
            </p:nvSpPr>
            <p:spPr>
              <a:xfrm>
                <a:off x="6212153" y="2662757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A19EDC8-D02F-85A0-F3E8-A8FB4A4CA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53" y="2662757"/>
                <a:ext cx="33588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BF6DB59-3071-C577-4289-7ED9C3111CF5}"/>
                  </a:ext>
                </a:extLst>
              </p:cNvPr>
              <p:cNvSpPr txBox="1"/>
              <p:nvPr/>
            </p:nvSpPr>
            <p:spPr>
              <a:xfrm>
                <a:off x="5196173" y="1766662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BF6DB59-3071-C577-4289-7ED9C3111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173" y="1766662"/>
                <a:ext cx="33588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4EFC8D8B-E161-FF90-27AD-153356ADA42A}"/>
              </a:ext>
            </a:extLst>
          </p:cNvPr>
          <p:cNvSpPr txBox="1"/>
          <p:nvPr/>
        </p:nvSpPr>
        <p:spPr>
          <a:xfrm>
            <a:off x="5714563" y="3172532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Hallando la función lineal: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C4ABF7C-EE32-83D1-B293-FDF6578B2A03}"/>
                  </a:ext>
                </a:extLst>
              </p:cNvPr>
              <p:cNvSpPr txBox="1"/>
              <p:nvPr/>
            </p:nvSpPr>
            <p:spPr>
              <a:xfrm>
                <a:off x="5817219" y="3593500"/>
                <a:ext cx="4718092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5−14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C4ABF7C-EE32-83D1-B293-FDF6578B2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19" y="3593500"/>
                <a:ext cx="4718092" cy="6183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67A9C50-82AE-ADE0-213C-753D736CD7B1}"/>
                  </a:ext>
                </a:extLst>
              </p:cNvPr>
              <p:cNvSpPr txBox="1"/>
              <p:nvPr/>
            </p:nvSpPr>
            <p:spPr>
              <a:xfrm>
                <a:off x="5503106" y="4412851"/>
                <a:ext cx="4718092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s-P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5−14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−14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67A9C50-82AE-ADE0-213C-753D736C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06" y="4412851"/>
                <a:ext cx="4718092" cy="6183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0BEC7A82-3E98-3426-4CAC-FCBB2B67E5E1}"/>
                  </a:ext>
                </a:extLst>
              </p:cNvPr>
              <p:cNvSpPr txBox="1"/>
              <p:nvPr/>
            </p:nvSpPr>
            <p:spPr>
              <a:xfrm>
                <a:off x="5550376" y="49929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0BEC7A82-3E98-3426-4CAC-FCBB2B67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376" y="49929"/>
                <a:ext cx="3358877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94793AD-4071-838E-01CB-08BF1206D42E}"/>
                  </a:ext>
                </a:extLst>
              </p:cNvPr>
              <p:cNvSpPr txBox="1"/>
              <p:nvPr/>
            </p:nvSpPr>
            <p:spPr>
              <a:xfrm>
                <a:off x="7571175" y="2598906"/>
                <a:ext cx="33588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94793AD-4071-838E-01CB-08BF1206D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175" y="2598906"/>
                <a:ext cx="33588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Elipse 35">
            <a:extLst>
              <a:ext uri="{FF2B5EF4-FFF2-40B4-BE49-F238E27FC236}">
                <a16:creationId xmlns:a16="http://schemas.microsoft.com/office/drawing/2014/main" id="{F3A68517-6649-4297-CC54-35C38CF2DC5D}"/>
              </a:ext>
            </a:extLst>
          </p:cNvPr>
          <p:cNvSpPr/>
          <p:nvPr/>
        </p:nvSpPr>
        <p:spPr>
          <a:xfrm>
            <a:off x="7002375" y="836532"/>
            <a:ext cx="90000" cy="913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FE4E5519-11A5-E39F-88EE-6EA4914A7E38}"/>
              </a:ext>
            </a:extLst>
          </p:cNvPr>
          <p:cNvSpPr/>
          <p:nvPr/>
        </p:nvSpPr>
        <p:spPr>
          <a:xfrm>
            <a:off x="8232362" y="1519944"/>
            <a:ext cx="90000" cy="9135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67B6350A-05EE-623D-3152-D90305CAF7FD}"/>
                  </a:ext>
                </a:extLst>
              </p:cNvPr>
              <p:cNvSpPr txBox="1"/>
              <p:nvPr/>
            </p:nvSpPr>
            <p:spPr>
              <a:xfrm>
                <a:off x="5678622" y="5270182"/>
                <a:ext cx="47180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s-PE" b="1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67B6350A-05EE-623D-3152-D90305CA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622" y="5270182"/>
                <a:ext cx="4718092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B749461-9A30-0419-CDBE-A323FD681A39}"/>
                  </a:ext>
                </a:extLst>
              </p:cNvPr>
              <p:cNvSpPr txBox="1"/>
              <p:nvPr/>
            </p:nvSpPr>
            <p:spPr>
              <a:xfrm>
                <a:off x="5714563" y="5941317"/>
                <a:ext cx="47180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s-P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P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PE" b="1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B749461-9A30-0419-CDBE-A323FD68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563" y="5941317"/>
                <a:ext cx="4718092" cy="369332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14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19" grpId="0" build="p"/>
      <p:bldP spid="2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F256-39CF-2BAE-FEA0-46F8FE18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5E06B225-F560-1AE0-2346-8694C957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67E738F-F355-D800-12D7-32CF84012A59}"/>
              </a:ext>
            </a:extLst>
          </p:cNvPr>
          <p:cNvCxnSpPr>
            <a:cxnSpLocks/>
          </p:cNvCxnSpPr>
          <p:nvPr/>
        </p:nvCxnSpPr>
        <p:spPr>
          <a:xfrm>
            <a:off x="6116300" y="0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D9DC69D-2A7B-699B-6097-B291597453B7}"/>
              </a:ext>
            </a:extLst>
          </p:cNvPr>
          <p:cNvSpPr txBox="1"/>
          <p:nvPr/>
        </p:nvSpPr>
        <p:spPr>
          <a:xfrm>
            <a:off x="1445906" y="255551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32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BDCD1-108F-9B9D-71D1-46BDF4BD3478}"/>
              </a:ext>
            </a:extLst>
          </p:cNvPr>
          <p:cNvSpPr txBox="1"/>
          <p:nvPr/>
        </p:nvSpPr>
        <p:spPr>
          <a:xfrm>
            <a:off x="10786695" y="6102779"/>
            <a:ext cx="121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RPTA</a:t>
            </a:r>
            <a:r>
              <a:rPr lang="es-PE" sz="2400" b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C</a:t>
            </a:r>
            <a:endParaRPr lang="es-PE" sz="2400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0B8B2A-2BA0-D97A-6DB2-0063E5778C57}"/>
              </a:ext>
            </a:extLst>
          </p:cNvPr>
          <p:cNvSpPr txBox="1"/>
          <p:nvPr/>
        </p:nvSpPr>
        <p:spPr>
          <a:xfrm>
            <a:off x="6116300" y="37368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5790468-EFFA-547F-9BCA-C05CE631A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138" y="4086756"/>
            <a:ext cx="1694144" cy="169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15E829-2C4C-C6B0-8A55-3AD6B994D46B}"/>
              </a:ext>
            </a:extLst>
          </p:cNvPr>
          <p:cNvSpPr txBox="1"/>
          <p:nvPr/>
        </p:nvSpPr>
        <p:spPr>
          <a:xfrm>
            <a:off x="6280589" y="778771"/>
            <a:ext cx="4257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Verdadero. 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Por definición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1C0AA1-8D75-B8ED-F2E0-37FC8BA0A9FD}"/>
              </a:ext>
            </a:extLst>
          </p:cNvPr>
          <p:cNvSpPr txBox="1"/>
          <p:nvPr/>
        </p:nvSpPr>
        <p:spPr>
          <a:xfrm>
            <a:off x="6280589" y="2046181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Verdadero. 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Por definición</a:t>
            </a:r>
            <a:endParaRPr lang="es-PE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927D77-F2A6-F20E-A5C3-74E188EAB264}"/>
              </a:ext>
            </a:extLst>
          </p:cNvPr>
          <p:cNvSpPr txBox="1"/>
          <p:nvPr/>
        </p:nvSpPr>
        <p:spPr>
          <a:xfrm>
            <a:off x="6280589" y="3278530"/>
            <a:ext cx="497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Falso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. La rapidez no es un vector</a:t>
            </a: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E103C582-B8C3-6041-030E-AF723B86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474" y="978826"/>
            <a:ext cx="4380207" cy="556747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6AD1FAC-D4DD-1790-0044-408B49F606A1}"/>
              </a:ext>
            </a:extLst>
          </p:cNvPr>
          <p:cNvSpPr txBox="1"/>
          <p:nvPr/>
        </p:nvSpPr>
        <p:spPr>
          <a:xfrm>
            <a:off x="7370900" y="5119256"/>
            <a:ext cx="4386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latin typeface="Cambria Math" panose="02040503050406030204" pitchFamily="18" charset="0"/>
                <a:ea typeface="Cambria Math" panose="02040503050406030204" pitchFamily="18" charset="0"/>
              </a:rPr>
              <a:t>Respuesta: VVF</a:t>
            </a:r>
          </a:p>
        </p:txBody>
      </p:sp>
    </p:spTree>
    <p:extLst>
      <p:ext uri="{BB962C8B-B14F-4D97-AF65-F5344CB8AC3E}">
        <p14:creationId xmlns:p14="http://schemas.microsoft.com/office/powerpoint/2010/main" val="329561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/>
      <p:bldP spid="12" grpId="0" build="p"/>
      <p:bldP spid="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7096-C705-A9C3-176A-1D3EC216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23A9C270-6BEA-A435-2126-8E182047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35463" cy="6858000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D46C726-7B87-54A0-DB25-C98DE0AADEA2}"/>
              </a:ext>
            </a:extLst>
          </p:cNvPr>
          <p:cNvCxnSpPr>
            <a:cxnSpLocks/>
          </p:cNvCxnSpPr>
          <p:nvPr/>
        </p:nvCxnSpPr>
        <p:spPr>
          <a:xfrm>
            <a:off x="6116300" y="0"/>
            <a:ext cx="0" cy="68580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E319E5B-6D7F-5BE9-F832-C160C9D69480}"/>
              </a:ext>
            </a:extLst>
          </p:cNvPr>
          <p:cNvSpPr txBox="1"/>
          <p:nvPr/>
        </p:nvSpPr>
        <p:spPr>
          <a:xfrm>
            <a:off x="1445906" y="255551"/>
            <a:ext cx="2324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PROBLEMA 33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8618A6-C2F1-9FC5-90C5-40ABFBF3EB8C}"/>
              </a:ext>
            </a:extLst>
          </p:cNvPr>
          <p:cNvSpPr txBox="1"/>
          <p:nvPr/>
        </p:nvSpPr>
        <p:spPr>
          <a:xfrm>
            <a:off x="10786695" y="6102779"/>
            <a:ext cx="121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RPTA</a:t>
            </a:r>
            <a:r>
              <a:rPr lang="es-PE" sz="2400" b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E</a:t>
            </a:r>
            <a:endParaRPr lang="es-PE" sz="2400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11EB14-87EB-5739-BC42-75D9102D8AA3}"/>
              </a:ext>
            </a:extLst>
          </p:cNvPr>
          <p:cNvSpPr txBox="1"/>
          <p:nvPr/>
        </p:nvSpPr>
        <p:spPr>
          <a:xfrm>
            <a:off x="6116300" y="37368"/>
            <a:ext cx="174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rgbClr val="FF0000"/>
                </a:solidFill>
              </a:rPr>
              <a:t>SOLUCIÓN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C718A72-BD59-8620-6922-B2F3923F6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138" y="4086756"/>
            <a:ext cx="1694144" cy="169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B163CFD-EC59-71E6-F177-4F83C5F65CE2}"/>
              </a:ext>
            </a:extLst>
          </p:cNvPr>
          <p:cNvSpPr txBox="1"/>
          <p:nvPr/>
        </p:nvSpPr>
        <p:spPr>
          <a:xfrm>
            <a:off x="6280589" y="778771"/>
            <a:ext cx="538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Falso. 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Su orientación depende de la velocidad inicial y final para un intervalo de tiempo.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s-PE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887636-3B50-FD99-9212-9578FC3B1D2F}"/>
              </a:ext>
            </a:extLst>
          </p:cNvPr>
          <p:cNvSpPr txBox="1"/>
          <p:nvPr/>
        </p:nvSpPr>
        <p:spPr>
          <a:xfrm>
            <a:off x="6280589" y="2046181"/>
            <a:ext cx="3991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Verdadero. 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Por definición</a:t>
            </a:r>
            <a:endParaRPr lang="es-PE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D92FBAC-EC14-A632-76D8-16DF4197281D}"/>
              </a:ext>
            </a:extLst>
          </p:cNvPr>
          <p:cNvSpPr txBox="1"/>
          <p:nvPr/>
        </p:nvSpPr>
        <p:spPr>
          <a:xfrm>
            <a:off x="6280589" y="3278530"/>
            <a:ext cx="49700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III) </a:t>
            </a:r>
            <a:r>
              <a:rPr lang="es-P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Falso</a:t>
            </a:r>
            <a:r>
              <a:rPr lang="es-PE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. Apunta hacia la concavidad de la trayectoria.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2B5B90-83A4-7E7E-9496-4769CDE3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288" y="1178881"/>
            <a:ext cx="4792868" cy="451391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DAC3535-1BA4-A71F-5B03-A6AEBF05EC2C}"/>
              </a:ext>
            </a:extLst>
          </p:cNvPr>
          <p:cNvSpPr txBox="1"/>
          <p:nvPr/>
        </p:nvSpPr>
        <p:spPr>
          <a:xfrm>
            <a:off x="7057487" y="4633989"/>
            <a:ext cx="4386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latin typeface="Cambria Math" panose="02040503050406030204" pitchFamily="18" charset="0"/>
                <a:ea typeface="Cambria Math" panose="02040503050406030204" pitchFamily="18" charset="0"/>
              </a:rPr>
              <a:t>Respuesta: FVF</a:t>
            </a:r>
          </a:p>
        </p:txBody>
      </p:sp>
    </p:spTree>
    <p:extLst>
      <p:ext uri="{BB962C8B-B14F-4D97-AF65-F5344CB8AC3E}">
        <p14:creationId xmlns:p14="http://schemas.microsoft.com/office/powerpoint/2010/main" val="354551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/>
      <p:bldP spid="12" grpId="0" build="p"/>
      <p:bldP spid="20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18127</TotalTime>
  <Words>361</Words>
  <Application>Microsoft Office PowerPoint</Application>
  <PresentationFormat>Panorámica</PresentationFormat>
  <Paragraphs>71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Bauhaus 93</vt:lpstr>
      <vt:lpstr>Bubblegum Sans</vt:lpstr>
      <vt:lpstr>Calibri</vt:lpstr>
      <vt:lpstr>Calibri Light</vt:lpstr>
      <vt:lpstr>Cambria Math</vt:lpstr>
      <vt:lpstr>Roboto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Ethan Amanca Coello</dc:creator>
  <cp:lastModifiedBy>JESUS MIGUEL HUAMAN CJUMO</cp:lastModifiedBy>
  <cp:revision>148</cp:revision>
  <dcterms:created xsi:type="dcterms:W3CDTF">2022-10-07T11:38:25Z</dcterms:created>
  <dcterms:modified xsi:type="dcterms:W3CDTF">2026-03-03T15:35:39Z</dcterms:modified>
</cp:coreProperties>
</file>